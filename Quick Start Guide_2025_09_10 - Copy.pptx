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57" r:id="rId5"/>
    <p:sldId id="260" r:id="rId6"/>
    <p:sldId id="266" r:id="rId7"/>
    <p:sldId id="268" r:id="rId8"/>
    <p:sldId id="265" r:id="rId9"/>
    <p:sldId id="267" r:id="rId10"/>
    <p:sldId id="262" r:id="rId11"/>
    <p:sldId id="269" r:id="rId12"/>
    <p:sldId id="263" r:id="rId13"/>
    <p:sldId id="264" r:id="rId1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Thompson" initials="MT" lastIdx="1" clrIdx="0">
    <p:extLst>
      <p:ext uri="{19B8F6BF-5375-455C-9EA6-DF929625EA0E}">
        <p15:presenceInfo xmlns:p15="http://schemas.microsoft.com/office/powerpoint/2012/main" userId="732ed72a505fadf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6FAB96C8-B707-440D-96A3-24C86AA1729B}" type="datetimeFigureOut">
              <a:rPr lang="en-US" smtClean="0"/>
              <a:t>9/9/2025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D7C5FE14-D97C-4100-9604-2AD3C9D2A186}" type="slidenum">
              <a:rPr lang="en-US" smtClean="0"/>
              <a:t>‹#›</a:t>
            </a:fld>
            <a:endParaRPr lang="en-US"/>
          </a:p>
        </p:txBody>
      </p:sp>
    </p:spTree>
    <p:extLst>
      <p:ext uri="{BB962C8B-B14F-4D97-AF65-F5344CB8AC3E}">
        <p14:creationId xmlns:p14="http://schemas.microsoft.com/office/powerpoint/2010/main" val="61104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FE14-D97C-4100-9604-2AD3C9D2A186}" type="slidenum">
              <a:rPr lang="en-US" smtClean="0"/>
              <a:t>1</a:t>
            </a:fld>
            <a:endParaRPr lang="en-US"/>
          </a:p>
        </p:txBody>
      </p:sp>
    </p:spTree>
    <p:extLst>
      <p:ext uri="{BB962C8B-B14F-4D97-AF65-F5344CB8AC3E}">
        <p14:creationId xmlns:p14="http://schemas.microsoft.com/office/powerpoint/2010/main" val="409698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965F-B40F-8A0C-F295-38D245E8D6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DC5A48-FF9D-CC65-DB50-7B49BC4ABC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279F1D-E102-609F-81F7-B383B02A315D}"/>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9457F057-1532-107F-57BA-D0CC7383D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4A27A-5767-F7C1-A74A-849C8A07C6EC}"/>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228604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E12E-CBA4-2303-C098-EF80A357EA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926F91-CF2F-8B60-C7DE-B7A92CE12C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15367-E6D2-55BC-F2B4-8705CAC54F3E}"/>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C2929BED-59C1-F5E8-E076-C13083633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675398-6F5F-9F79-1FD4-793C3756C57E}"/>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597003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DA518-A9C5-2972-C737-70F1E729D5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B9BB2D-4F76-91D7-B44A-1A42D2EC06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36A23A-3372-B2AD-D62B-4996D2672DCE}"/>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ADB16D77-8DB1-608D-8244-C09B725F12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18A3F-867D-4043-8A43-9DB33CDBBD04}"/>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334714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2349-A2E6-64C7-B8BA-EF611A6471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C38E29-8C6E-D3EB-EF80-727E5F96C3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ADF4A3-6AB7-6E1C-52D6-30D9E614AD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1463FC-C054-0725-DC50-5B668A8AC3A7}"/>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6" name="Footer Placeholder 5">
            <a:extLst>
              <a:ext uri="{FF2B5EF4-FFF2-40B4-BE49-F238E27FC236}">
                <a16:creationId xmlns:a16="http://schemas.microsoft.com/office/drawing/2014/main" id="{4FECA292-2CE1-59D5-409E-2E4CE47D4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8933F-30E2-37F3-9E1E-6EDA56688540}"/>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1941590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D918-E44B-C404-3E5B-CDCBCB5F59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6177EA-9EC5-60D7-954E-2C19F0F7A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6AB03D-0FBC-E00A-80FE-7EE9FDA373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551209-6259-04B0-E454-F84CC49BC7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11D4CE-D510-C325-55D9-C19E7034D6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6955B3-7712-E927-D533-5EA620916751}"/>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8" name="Footer Placeholder 7">
            <a:extLst>
              <a:ext uri="{FF2B5EF4-FFF2-40B4-BE49-F238E27FC236}">
                <a16:creationId xmlns:a16="http://schemas.microsoft.com/office/drawing/2014/main" id="{D997AB3F-3489-750E-8588-C1000FB8FD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8639F9-E495-08AE-7160-AF54A4623838}"/>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2970609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FCF9-0DD4-8095-E009-97DAA55EE7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DED74D-DF5E-6EE6-CBC9-67BEE7AC09EA}"/>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4" name="Footer Placeholder 3">
            <a:extLst>
              <a:ext uri="{FF2B5EF4-FFF2-40B4-BE49-F238E27FC236}">
                <a16:creationId xmlns:a16="http://schemas.microsoft.com/office/drawing/2014/main" id="{A1380581-F8D8-28BA-2FBA-637C2D3EAB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DB9D4A-B02B-5534-4AD5-F5F98EDE2317}"/>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999598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49E986-ABD5-555C-2E52-3C92B5672798}"/>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3" name="Footer Placeholder 2">
            <a:extLst>
              <a:ext uri="{FF2B5EF4-FFF2-40B4-BE49-F238E27FC236}">
                <a16:creationId xmlns:a16="http://schemas.microsoft.com/office/drawing/2014/main" id="{08D8309F-F66F-12B9-CB8D-B07D9F561E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09A074-DF15-8F41-7413-3D8819BAC250}"/>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2148165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4A98-2B26-4B56-E621-791DB594DC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DDDBB4-55B5-2299-9BEC-718572AF35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AB978D-590A-7728-03E2-9FB7FA38BB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B9866E-A422-7B1F-FCC4-9AFA2BB4B03B}"/>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6" name="Footer Placeholder 5">
            <a:extLst>
              <a:ext uri="{FF2B5EF4-FFF2-40B4-BE49-F238E27FC236}">
                <a16:creationId xmlns:a16="http://schemas.microsoft.com/office/drawing/2014/main" id="{014A6DF2-DA0B-607B-14B3-24B1E56001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AB62B5-902A-89AE-F1ED-1C882BA00106}"/>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335427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1A74-B174-D84F-0D65-1E5368603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8439E6-C65B-A90F-E775-F5941B788B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538542-43D2-E476-3BF1-DAC15B4A8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B6CFCA-3258-230B-2D87-61EB88FAF0B2}"/>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6" name="Footer Placeholder 5">
            <a:extLst>
              <a:ext uri="{FF2B5EF4-FFF2-40B4-BE49-F238E27FC236}">
                <a16:creationId xmlns:a16="http://schemas.microsoft.com/office/drawing/2014/main" id="{60A62166-8319-BFE1-29B5-34801E90A6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0F58D3-93D0-CEB8-B86D-CD1B6CE125D7}"/>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386277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B4F60-5678-94BF-BC67-931510F7EA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00EF12-827F-3FE3-E041-AB9DEA86F4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8AEED-35CF-08AF-070E-FE42950C86FD}"/>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4D1C245E-E45D-FA92-7317-AE22903A6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1F38E-D309-DFEE-A787-FAAA6233316E}"/>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100099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CB592-4A24-E9AA-683E-37A3E011C3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454C7-AEA5-699F-56B4-804F08D7FE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6F4C7B-DB30-4F70-5928-B1D711C9632A}"/>
              </a:ext>
            </a:extLst>
          </p:cNvPr>
          <p:cNvSpPr>
            <a:spLocks noGrp="1"/>
          </p:cNvSpPr>
          <p:nvPr>
            <p:ph type="dt" sz="half" idx="10"/>
          </p:nvPr>
        </p:nvSpPr>
        <p:spPr/>
        <p:txBody>
          <a:body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24C1FAEF-B7A6-3178-F5AB-66857B25C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6766A-28C1-0674-635B-731D7ABF9C8C}"/>
              </a:ext>
            </a:extLst>
          </p:cNvPr>
          <p:cNvSpPr>
            <a:spLocks noGrp="1"/>
          </p:cNvSpPr>
          <p:nvPr>
            <p:ph type="sldNum" sz="quarter" idx="12"/>
          </p:nvPr>
        </p:nvSpPr>
        <p:spPr/>
        <p:txBody>
          <a:bodyPr/>
          <a:lstStyle/>
          <a:p>
            <a:fld id="{D5C8383F-40E6-41DF-97FC-E4923D44CC6C}" type="slidenum">
              <a:rPr lang="en-US" smtClean="0"/>
              <a:t>‹#›</a:t>
            </a:fld>
            <a:endParaRPr lang="en-US"/>
          </a:p>
        </p:txBody>
      </p:sp>
    </p:spTree>
    <p:extLst>
      <p:ext uri="{BB962C8B-B14F-4D97-AF65-F5344CB8AC3E}">
        <p14:creationId xmlns:p14="http://schemas.microsoft.com/office/powerpoint/2010/main" val="3015795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46B890-4202-7460-C792-1A596320A7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A62C1D-C3B4-FAB1-96BE-A7AB9D5CA1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1537DC-D142-1CD6-5B75-E4B1D6A261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55FB2-0EB9-4FBB-A4B7-57E7A3E8CF01}" type="datetimeFigureOut">
              <a:rPr lang="en-US" smtClean="0"/>
              <a:t>9/9/2025</a:t>
            </a:fld>
            <a:endParaRPr lang="en-US"/>
          </a:p>
        </p:txBody>
      </p:sp>
      <p:sp>
        <p:nvSpPr>
          <p:cNvPr id="5" name="Footer Placeholder 4">
            <a:extLst>
              <a:ext uri="{FF2B5EF4-FFF2-40B4-BE49-F238E27FC236}">
                <a16:creationId xmlns:a16="http://schemas.microsoft.com/office/drawing/2014/main" id="{D8C6AB45-8092-A71F-E5C6-6074F5897A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FF8FE0-BFA6-DDBD-8116-BDD5632BE5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8383F-40E6-41DF-97FC-E4923D44CC6C}" type="slidenum">
              <a:rPr lang="en-US" smtClean="0"/>
              <a:t>‹#›</a:t>
            </a:fld>
            <a:endParaRPr lang="en-US"/>
          </a:p>
        </p:txBody>
      </p:sp>
    </p:spTree>
    <p:extLst>
      <p:ext uri="{BB962C8B-B14F-4D97-AF65-F5344CB8AC3E}">
        <p14:creationId xmlns:p14="http://schemas.microsoft.com/office/powerpoint/2010/main" val="2800415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oeschmuck2023@hotmail.c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atercolor of a computer hard drive&#10;&#10;AI-generated content may be incorrect.">
            <a:extLst>
              <a:ext uri="{FF2B5EF4-FFF2-40B4-BE49-F238E27FC236}">
                <a16:creationId xmlns:a16="http://schemas.microsoft.com/office/drawing/2014/main" id="{C81B0D1E-9A13-4DEE-79DB-F9694C04E540}"/>
              </a:ext>
            </a:extLst>
          </p:cNvPr>
          <p:cNvPicPr>
            <a:picLocks noChangeAspect="1"/>
          </p:cNvPicPr>
          <p:nvPr/>
        </p:nvPicPr>
        <p:blipFill>
          <a:blip r:embed="rId3"/>
          <a:stretch>
            <a:fillRect/>
          </a:stretch>
        </p:blipFill>
        <p:spPr>
          <a:xfrm>
            <a:off x="5301673" y="-21563"/>
            <a:ext cx="6890327" cy="6879563"/>
          </a:xfrm>
          <a:prstGeom prst="rect">
            <a:avLst/>
          </a:prstGeom>
        </p:spPr>
      </p:pic>
      <p:sp>
        <p:nvSpPr>
          <p:cNvPr id="2" name="Title 1">
            <a:extLst>
              <a:ext uri="{FF2B5EF4-FFF2-40B4-BE49-F238E27FC236}">
                <a16:creationId xmlns:a16="http://schemas.microsoft.com/office/drawing/2014/main" id="{047F44C6-AE97-96C5-1164-1A92B3453FEE}"/>
              </a:ext>
            </a:extLst>
          </p:cNvPr>
          <p:cNvSpPr>
            <a:spLocks noGrp="1"/>
          </p:cNvSpPr>
          <p:nvPr>
            <p:ph type="ctrTitle"/>
          </p:nvPr>
        </p:nvSpPr>
        <p:spPr>
          <a:xfrm>
            <a:off x="304800" y="1041400"/>
            <a:ext cx="4821382" cy="2387600"/>
          </a:xfrm>
        </p:spPr>
        <p:txBody>
          <a:bodyPr anchor="ctr" anchorCtr="0"/>
          <a:lstStyle/>
          <a:p>
            <a:r>
              <a:rPr lang="en-US" dirty="0"/>
              <a:t>Multi-Report</a:t>
            </a:r>
          </a:p>
        </p:txBody>
      </p:sp>
      <p:sp>
        <p:nvSpPr>
          <p:cNvPr id="3" name="Subtitle 2">
            <a:extLst>
              <a:ext uri="{FF2B5EF4-FFF2-40B4-BE49-F238E27FC236}">
                <a16:creationId xmlns:a16="http://schemas.microsoft.com/office/drawing/2014/main" id="{20C4C1BF-3E7B-A813-0756-CBEE8F75B185}"/>
              </a:ext>
            </a:extLst>
          </p:cNvPr>
          <p:cNvSpPr>
            <a:spLocks noGrp="1"/>
          </p:cNvSpPr>
          <p:nvPr>
            <p:ph type="subTitle" idx="1"/>
          </p:nvPr>
        </p:nvSpPr>
        <p:spPr>
          <a:xfrm>
            <a:off x="138545" y="3629747"/>
            <a:ext cx="4359564" cy="1655762"/>
          </a:xfrm>
        </p:spPr>
        <p:txBody>
          <a:bodyPr>
            <a:normAutofit lnSpcReduction="10000"/>
          </a:bodyPr>
          <a:lstStyle/>
          <a:p>
            <a:r>
              <a:rPr lang="en-US" dirty="0"/>
              <a:t>Quick Start Guide</a:t>
            </a:r>
          </a:p>
          <a:p>
            <a:r>
              <a:rPr lang="en-US" sz="2000" dirty="0"/>
              <a:t>Version 3.20</a:t>
            </a:r>
          </a:p>
          <a:p>
            <a:endParaRPr lang="en-US" dirty="0"/>
          </a:p>
          <a:p>
            <a:r>
              <a:rPr lang="en-US" dirty="0"/>
              <a:t>10 September 2025</a:t>
            </a:r>
          </a:p>
        </p:txBody>
      </p:sp>
    </p:spTree>
    <p:extLst>
      <p:ext uri="{BB962C8B-B14F-4D97-AF65-F5344CB8AC3E}">
        <p14:creationId xmlns:p14="http://schemas.microsoft.com/office/powerpoint/2010/main" val="936892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76C1-BA66-678B-BEE9-5A740232EA82}"/>
              </a:ext>
            </a:extLst>
          </p:cNvPr>
          <p:cNvSpPr>
            <a:spLocks noGrp="1"/>
          </p:cNvSpPr>
          <p:nvPr>
            <p:ph type="title"/>
          </p:nvPr>
        </p:nvSpPr>
        <p:spPr/>
        <p:txBody>
          <a:bodyPr/>
          <a:lstStyle/>
          <a:p>
            <a:r>
              <a:rPr lang="en-US" dirty="0"/>
              <a:t>What is Multi-Report?</a:t>
            </a:r>
          </a:p>
        </p:txBody>
      </p:sp>
      <p:sp>
        <p:nvSpPr>
          <p:cNvPr id="3" name="Content Placeholder 2">
            <a:extLst>
              <a:ext uri="{FF2B5EF4-FFF2-40B4-BE49-F238E27FC236}">
                <a16:creationId xmlns:a16="http://schemas.microsoft.com/office/drawing/2014/main" id="{DF27355E-2560-5E8E-195E-D56B11ECE8D5}"/>
              </a:ext>
            </a:extLst>
          </p:cNvPr>
          <p:cNvSpPr>
            <a:spLocks noGrp="1"/>
          </p:cNvSpPr>
          <p:nvPr>
            <p:ph idx="1"/>
          </p:nvPr>
        </p:nvSpPr>
        <p:spPr>
          <a:xfrm>
            <a:off x="838200" y="1453897"/>
            <a:ext cx="10515600" cy="5038978"/>
          </a:xfrm>
        </p:spPr>
        <p:txBody>
          <a:bodyPr>
            <a:normAutofit fontScale="25000" lnSpcReduction="20000"/>
          </a:bodyPr>
          <a:lstStyle/>
          <a:p>
            <a:pPr>
              <a:spcAft>
                <a:spcPts val="600"/>
              </a:spcAft>
            </a:pPr>
            <a:r>
              <a:rPr lang="en-US" sz="7200" dirty="0"/>
              <a:t>Multi-Report was written a long time ago under a different name, with the purpose of augmenting </a:t>
            </a:r>
            <a:r>
              <a:rPr lang="en-US" sz="7200" dirty="0" err="1"/>
              <a:t>FreeNAS</a:t>
            </a:r>
            <a:r>
              <a:rPr lang="en-US" sz="7200" dirty="0"/>
              <a:t> 8.x (and beyond) for running SMART tests, and monitoring for drive failures as </a:t>
            </a:r>
            <a:r>
              <a:rPr lang="en-US" sz="7200" dirty="0" err="1"/>
              <a:t>FreeNAS</a:t>
            </a:r>
            <a:r>
              <a:rPr lang="en-US" sz="7200" dirty="0"/>
              <a:t> was not very good at it reliably.</a:t>
            </a:r>
          </a:p>
          <a:p>
            <a:pPr>
              <a:spcAft>
                <a:spcPts val="600"/>
              </a:spcAft>
            </a:pPr>
            <a:r>
              <a:rPr lang="en-US" sz="7200" dirty="0"/>
              <a:t>One major change has occurred in version 3.1, the S.M.A.R.T. testing has been removed from Multi-Report and moved into a companion script called “</a:t>
            </a:r>
            <a:r>
              <a:rPr lang="en-US" sz="7200" dirty="0" err="1"/>
              <a:t>Drive_Selftest</a:t>
            </a:r>
            <a:r>
              <a:rPr lang="en-US" sz="7200" dirty="0"/>
              <a:t>”.  This makes maintaining the script easier and the </a:t>
            </a:r>
            <a:r>
              <a:rPr lang="en-US" sz="7200" dirty="0" err="1"/>
              <a:t>Drive_Selftest</a:t>
            </a:r>
            <a:r>
              <a:rPr lang="en-US" sz="7200" dirty="0"/>
              <a:t> script can run on its own for those people who just want to run the smart tests easily and not receive a report.</a:t>
            </a:r>
          </a:p>
          <a:p>
            <a:pPr>
              <a:spcAft>
                <a:spcPts val="600"/>
              </a:spcAft>
            </a:pPr>
            <a:r>
              <a:rPr lang="en-US" sz="7200" dirty="0"/>
              <a:t>SMART was designed with the intention to warn a user of pending Hard Drive doom within 0 to 24 hours of a failure.  This is not fool proof, not a magic bullet.  SMART is not perfect however if it does predict a failure and you are aware of it, you can fend off some danger. There are some failures that cannot be predicted and some failures happen very fast.  All the data provided by this script will assist you moving forward once a failure or indication of a pending failure is identified.</a:t>
            </a:r>
          </a:p>
          <a:p>
            <a:pPr>
              <a:spcAft>
                <a:spcPts val="600"/>
              </a:spcAft>
            </a:pPr>
            <a:r>
              <a:rPr lang="en-US" sz="7200" dirty="0"/>
              <a:t>Additionally, I highly </a:t>
            </a:r>
            <a:r>
              <a:rPr lang="en-US" sz="7200" u="sng" dirty="0"/>
              <a:t>recommend</a:t>
            </a:r>
            <a:r>
              <a:rPr lang="en-US" sz="7200" dirty="0"/>
              <a:t> running a SMART Short test once a day and running a SMART Long test once a week.  If you have a lot of drives, only schedule a few drives a day (Monday), a few others (Wednesday), you get the point.  </a:t>
            </a:r>
            <a:r>
              <a:rPr lang="en-US" sz="7200" b="1" dirty="0"/>
              <a:t>The new </a:t>
            </a:r>
            <a:r>
              <a:rPr lang="en-US" sz="7200" b="1" dirty="0" err="1"/>
              <a:t>Drive_Selftest</a:t>
            </a:r>
            <a:r>
              <a:rPr lang="en-US" sz="7200" b="1" dirty="0"/>
              <a:t> </a:t>
            </a:r>
            <a:r>
              <a:rPr lang="en-US" sz="7200" dirty="0"/>
              <a:t>can automate the scheduling of your SMART tests, example: Daily Short tests and Weekly or Monthly Long Tests, and it is very simple to setup.</a:t>
            </a:r>
          </a:p>
          <a:p>
            <a:pPr>
              <a:spcAft>
                <a:spcPts val="600"/>
              </a:spcAft>
            </a:pPr>
            <a:r>
              <a:rPr lang="en-US" sz="7200" dirty="0"/>
              <a:t>As you look at the chart data, note that the column titles should be self-explanatory.</a:t>
            </a:r>
          </a:p>
          <a:p>
            <a:pPr>
              <a:spcAft>
                <a:spcPts val="600"/>
              </a:spcAft>
            </a:pPr>
            <a:r>
              <a:rPr lang="en-US" sz="7200" dirty="0"/>
              <a:t>Pay attention to the CRON setup between CORE and SCALE, they are different.</a:t>
            </a:r>
          </a:p>
          <a:p>
            <a:pPr marL="0" indent="0">
              <a:buNone/>
            </a:pPr>
            <a:endParaRPr lang="en-US" dirty="0"/>
          </a:p>
        </p:txBody>
      </p:sp>
    </p:spTree>
    <p:extLst>
      <p:ext uri="{BB962C8B-B14F-4D97-AF65-F5344CB8AC3E}">
        <p14:creationId xmlns:p14="http://schemas.microsoft.com/office/powerpoint/2010/main" val="3316974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816D-4C10-7FDE-1955-4A784CDEBA97}"/>
              </a:ext>
            </a:extLst>
          </p:cNvPr>
          <p:cNvSpPr>
            <a:spLocks noGrp="1"/>
          </p:cNvSpPr>
          <p:nvPr>
            <p:ph type="title"/>
          </p:nvPr>
        </p:nvSpPr>
        <p:spPr>
          <a:xfrm>
            <a:off x="838200" y="365125"/>
            <a:ext cx="10515600" cy="522381"/>
          </a:xfrm>
        </p:spPr>
        <p:txBody>
          <a:bodyPr>
            <a:normAutofit fontScale="90000"/>
          </a:bodyPr>
          <a:lstStyle/>
          <a:p>
            <a:r>
              <a:rPr lang="en-US" dirty="0"/>
              <a:t>Quick Setup Information</a:t>
            </a:r>
          </a:p>
        </p:txBody>
      </p:sp>
      <p:sp>
        <p:nvSpPr>
          <p:cNvPr id="3" name="TextBox 2">
            <a:extLst>
              <a:ext uri="{FF2B5EF4-FFF2-40B4-BE49-F238E27FC236}">
                <a16:creationId xmlns:a16="http://schemas.microsoft.com/office/drawing/2014/main" id="{397CFDD8-6B49-9B59-FC7C-01B6DD7B45B8}"/>
              </a:ext>
            </a:extLst>
          </p:cNvPr>
          <p:cNvSpPr txBox="1"/>
          <p:nvPr/>
        </p:nvSpPr>
        <p:spPr>
          <a:xfrm>
            <a:off x="493777" y="958866"/>
            <a:ext cx="5602223" cy="2677656"/>
          </a:xfrm>
          <a:prstGeom prst="rect">
            <a:avLst/>
          </a:prstGeom>
          <a:noFill/>
          <a:ln w="47625">
            <a:solidFill>
              <a:srgbClr val="7030A0"/>
            </a:solidFill>
          </a:ln>
        </p:spPr>
        <p:txBody>
          <a:bodyPr wrap="square" rtlCol="0">
            <a:spAutoFit/>
          </a:bodyPr>
          <a:lstStyle/>
          <a:p>
            <a:pPr algn="ctr"/>
            <a:r>
              <a:rPr lang="en-US" sz="1400" u="sng" dirty="0"/>
              <a:t>Place script on your server (location is for example only)</a:t>
            </a:r>
          </a:p>
          <a:p>
            <a:pPr marL="285750" indent="-285750">
              <a:buFont typeface="Arial" panose="020B0604020202020204" pitchFamily="34" charset="0"/>
              <a:buChar char="•"/>
            </a:pPr>
            <a:r>
              <a:rPr lang="en-US" sz="1400" dirty="0"/>
              <a:t>Create a new dataset titled ‘scripts’.  Path: /</a:t>
            </a:r>
            <a:r>
              <a:rPr lang="en-US" sz="1400" dirty="0" err="1"/>
              <a:t>mnt</a:t>
            </a:r>
            <a:r>
              <a:rPr lang="en-US" sz="1400" dirty="0"/>
              <a:t>/pool/scripts</a:t>
            </a:r>
          </a:p>
          <a:p>
            <a:pPr marL="742950" lvl="1" indent="-285750">
              <a:buFont typeface="Arial" panose="020B0604020202020204" pitchFamily="34" charset="0"/>
              <a:buChar char="•"/>
            </a:pPr>
            <a:r>
              <a:rPr lang="en-US" sz="1400" dirty="0"/>
              <a:t>Make the dataset:</a:t>
            </a:r>
          </a:p>
          <a:p>
            <a:pPr marL="1200150" lvl="2" indent="-285750">
              <a:buFont typeface="Arial" panose="020B0604020202020204" pitchFamily="34" charset="0"/>
              <a:buChar char="•"/>
            </a:pPr>
            <a:r>
              <a:rPr lang="en-US" sz="1400" dirty="0"/>
              <a:t>Name: scripts</a:t>
            </a:r>
          </a:p>
          <a:p>
            <a:pPr marL="1200150" lvl="2" indent="-285750">
              <a:buFont typeface="Arial" panose="020B0604020202020204" pitchFamily="34" charset="0"/>
              <a:buChar char="•"/>
            </a:pPr>
            <a:r>
              <a:rPr lang="en-US" sz="1400" dirty="0"/>
              <a:t>Share Type/Dataset Preset: SMB</a:t>
            </a:r>
          </a:p>
          <a:p>
            <a:pPr marL="1200150" lvl="2" indent="-285750">
              <a:buFont typeface="Arial" panose="020B0604020202020204" pitchFamily="34" charset="0"/>
              <a:buChar char="•"/>
            </a:pPr>
            <a:r>
              <a:rPr lang="en-US" sz="1400" dirty="0"/>
              <a:t>SCALE: Create SMB Share checkbox</a:t>
            </a:r>
          </a:p>
          <a:p>
            <a:pPr marL="1200150" lvl="2" indent="-285750">
              <a:buFont typeface="Arial" panose="020B0604020202020204" pitchFamily="34" charset="0"/>
              <a:buChar char="•"/>
            </a:pPr>
            <a:r>
              <a:rPr lang="en-US" sz="1400" dirty="0"/>
              <a:t>Submit/Save</a:t>
            </a:r>
          </a:p>
          <a:p>
            <a:pPr marL="285750" indent="-285750">
              <a:buFont typeface="Arial" panose="020B0604020202020204" pitchFamily="34" charset="0"/>
              <a:buChar char="•"/>
            </a:pPr>
            <a:r>
              <a:rPr lang="en-US" sz="1400" dirty="0"/>
              <a:t>You should now have access to the SMB share you created.</a:t>
            </a:r>
          </a:p>
          <a:p>
            <a:pPr marL="285750" indent="-285750">
              <a:buFont typeface="Arial" panose="020B0604020202020204" pitchFamily="34" charset="0"/>
              <a:buChar char="•"/>
            </a:pPr>
            <a:r>
              <a:rPr lang="en-US" sz="1400" dirty="0"/>
              <a:t>Copy the script to the ‘scripts’ dataset, rename the script to “multi_report.sh”.</a:t>
            </a:r>
          </a:p>
          <a:p>
            <a:pPr marL="285750" indent="-285750">
              <a:buFont typeface="Arial" panose="020B0604020202020204" pitchFamily="34" charset="0"/>
              <a:buChar char="•"/>
            </a:pPr>
            <a:r>
              <a:rPr lang="en-US" sz="1400" dirty="0"/>
              <a:t>Make the script executable: “</a:t>
            </a:r>
            <a:r>
              <a:rPr lang="en-US" sz="1400" dirty="0" err="1"/>
              <a:t>chmod</a:t>
            </a:r>
            <a:r>
              <a:rPr lang="en-US" sz="1400" dirty="0"/>
              <a:t> +x multi_report.sh” (must be `root`)</a:t>
            </a:r>
          </a:p>
        </p:txBody>
      </p:sp>
      <p:sp>
        <p:nvSpPr>
          <p:cNvPr id="4" name="TextBox 3">
            <a:extLst>
              <a:ext uri="{FF2B5EF4-FFF2-40B4-BE49-F238E27FC236}">
                <a16:creationId xmlns:a16="http://schemas.microsoft.com/office/drawing/2014/main" id="{80F7996E-2840-23FF-BE2D-AB26D1001338}"/>
              </a:ext>
            </a:extLst>
          </p:cNvPr>
          <p:cNvSpPr txBox="1"/>
          <p:nvPr/>
        </p:nvSpPr>
        <p:spPr>
          <a:xfrm>
            <a:off x="6365215" y="942690"/>
            <a:ext cx="5301895" cy="3323987"/>
          </a:xfrm>
          <a:prstGeom prst="rect">
            <a:avLst/>
          </a:prstGeom>
          <a:noFill/>
          <a:ln w="47625">
            <a:solidFill>
              <a:srgbClr val="7030A0"/>
            </a:solidFill>
          </a:ln>
        </p:spPr>
        <p:txBody>
          <a:bodyPr wrap="square" numCol="1" spcCol="0" rtlCol="0">
            <a:spAutoFit/>
          </a:bodyPr>
          <a:lstStyle/>
          <a:p>
            <a:pPr algn="ctr"/>
            <a:r>
              <a:rPr lang="en-US" sz="1400" u="sng" dirty="0"/>
              <a:t>Setting up the CRON JOB</a:t>
            </a:r>
          </a:p>
          <a:p>
            <a:pPr marL="285750" indent="-285750">
              <a:buFont typeface="Arial" panose="020B0604020202020204" pitchFamily="34" charset="0"/>
              <a:buChar char="•"/>
            </a:pPr>
            <a:r>
              <a:rPr lang="en-US" sz="1400" dirty="0"/>
              <a:t>(CORE) -&gt; Tasks -&gt; Cron Jobs -&gt; ADD</a:t>
            </a:r>
          </a:p>
          <a:p>
            <a:pPr marL="285750" indent="-285750">
              <a:buFont typeface="Arial" panose="020B0604020202020204" pitchFamily="34" charset="0"/>
              <a:buChar char="•"/>
            </a:pPr>
            <a:r>
              <a:rPr lang="en-US" sz="1400" dirty="0"/>
              <a:t>(SCALE) -&gt; System -&gt; Advanced -&gt; Cron Jobs -&gt; ADD</a:t>
            </a:r>
          </a:p>
          <a:p>
            <a:pPr marL="285750" indent="-285750">
              <a:buFont typeface="Arial" panose="020B0604020202020204" pitchFamily="34" charset="0"/>
              <a:buChar char="•"/>
            </a:pPr>
            <a:r>
              <a:rPr lang="en-US" sz="1400" dirty="0"/>
              <a:t>Description: </a:t>
            </a:r>
            <a:r>
              <a:rPr lang="en-US" sz="1400" dirty="0" err="1"/>
              <a:t>multi_report</a:t>
            </a:r>
            <a:endParaRPr lang="en-US" sz="1400" dirty="0"/>
          </a:p>
          <a:p>
            <a:pPr marL="285750" indent="-285750">
              <a:buFont typeface="Arial" panose="020B0604020202020204" pitchFamily="34" charset="0"/>
              <a:buChar char="•"/>
            </a:pPr>
            <a:r>
              <a:rPr lang="en-US" sz="1400" dirty="0"/>
              <a:t>Command (CORE): ./mnt/pool/scripts/multi_report.sh</a:t>
            </a:r>
          </a:p>
          <a:p>
            <a:pPr marL="285750" indent="-285750">
              <a:buFont typeface="Arial" panose="020B0604020202020204" pitchFamily="34" charset="0"/>
              <a:buChar char="•"/>
            </a:pPr>
            <a:r>
              <a:rPr lang="en-US" sz="1400" b="1" dirty="0"/>
              <a:t>Command (SCALE): cd/</a:t>
            </a:r>
            <a:r>
              <a:rPr lang="en-US" sz="1400" b="1" dirty="0" err="1"/>
              <a:t>mnt</a:t>
            </a:r>
            <a:r>
              <a:rPr lang="en-US" sz="1400" b="1" dirty="0"/>
              <a:t>/pool/scripts &amp;&amp; ./multi_report.sh</a:t>
            </a:r>
          </a:p>
          <a:p>
            <a:pPr marL="285750" indent="-285750">
              <a:buFont typeface="Arial" panose="020B0604020202020204" pitchFamily="34" charset="0"/>
              <a:buChar char="•"/>
            </a:pPr>
            <a:r>
              <a:rPr lang="en-US" sz="1400" dirty="0"/>
              <a:t>Run As User: root (or any privileged account)</a:t>
            </a:r>
          </a:p>
          <a:p>
            <a:pPr marL="285750" indent="-285750">
              <a:buFont typeface="Arial" panose="020B0604020202020204" pitchFamily="34" charset="0"/>
              <a:buChar char="•"/>
            </a:pPr>
            <a:r>
              <a:rPr lang="en-US" sz="1400" dirty="0"/>
              <a:t>Schedule: Custom</a:t>
            </a:r>
          </a:p>
          <a:p>
            <a:pPr marL="742950" lvl="1" indent="-285750">
              <a:buFont typeface="Arial" panose="020B0604020202020204" pitchFamily="34" charset="0"/>
              <a:buChar char="•"/>
            </a:pPr>
            <a:r>
              <a:rPr lang="en-US" sz="1400" dirty="0"/>
              <a:t>Preset: Daily</a:t>
            </a:r>
          </a:p>
          <a:p>
            <a:pPr marL="742950" lvl="1" indent="-285750">
              <a:buFont typeface="Arial" panose="020B0604020202020204" pitchFamily="34" charset="0"/>
              <a:buChar char="•"/>
            </a:pPr>
            <a:r>
              <a:rPr lang="en-US" sz="1400" dirty="0"/>
              <a:t>Minutes: 0, Hours: 2, Days: *</a:t>
            </a:r>
          </a:p>
          <a:p>
            <a:pPr marL="742950" lvl="1" indent="-285750">
              <a:buFont typeface="Arial" panose="020B0604020202020204" pitchFamily="34" charset="0"/>
              <a:buChar char="•"/>
            </a:pPr>
            <a:r>
              <a:rPr lang="en-US" sz="1400" dirty="0"/>
              <a:t>Select DONE</a:t>
            </a:r>
          </a:p>
          <a:p>
            <a:pPr marL="285750" indent="-285750">
              <a:buFont typeface="Arial" panose="020B0604020202020204" pitchFamily="34" charset="0"/>
              <a:buChar char="•"/>
            </a:pPr>
            <a:r>
              <a:rPr lang="en-US" sz="1400" dirty="0"/>
              <a:t>Hide Standard Output: Unchecked</a:t>
            </a:r>
          </a:p>
          <a:p>
            <a:pPr marL="285750" indent="-285750">
              <a:buFont typeface="Arial" panose="020B0604020202020204" pitchFamily="34" charset="0"/>
              <a:buChar char="•"/>
            </a:pPr>
            <a:r>
              <a:rPr lang="en-US" sz="1400" dirty="0"/>
              <a:t>Hide Standard Error: Unchecked</a:t>
            </a:r>
          </a:p>
          <a:p>
            <a:pPr marL="285750" indent="-285750">
              <a:buFont typeface="Arial" panose="020B0604020202020204" pitchFamily="34" charset="0"/>
              <a:buChar char="•"/>
            </a:pPr>
            <a:r>
              <a:rPr lang="en-US" sz="1400" dirty="0"/>
              <a:t>Enabled: Checked</a:t>
            </a:r>
          </a:p>
          <a:p>
            <a:pPr marL="285750" indent="-285750">
              <a:buFont typeface="Arial" panose="020B0604020202020204" pitchFamily="34" charset="0"/>
              <a:buChar char="•"/>
            </a:pPr>
            <a:r>
              <a:rPr lang="en-US" sz="1400" dirty="0"/>
              <a:t>Save</a:t>
            </a:r>
          </a:p>
        </p:txBody>
      </p:sp>
      <p:sp>
        <p:nvSpPr>
          <p:cNvPr id="6" name="TextBox 5">
            <a:extLst>
              <a:ext uri="{FF2B5EF4-FFF2-40B4-BE49-F238E27FC236}">
                <a16:creationId xmlns:a16="http://schemas.microsoft.com/office/drawing/2014/main" id="{19F0860F-3EE1-3CE5-9CEE-7A1B66747BFF}"/>
              </a:ext>
            </a:extLst>
          </p:cNvPr>
          <p:cNvSpPr txBox="1"/>
          <p:nvPr/>
        </p:nvSpPr>
        <p:spPr>
          <a:xfrm>
            <a:off x="493776" y="3867343"/>
            <a:ext cx="5602224" cy="1815882"/>
          </a:xfrm>
          <a:prstGeom prst="rect">
            <a:avLst/>
          </a:prstGeom>
          <a:noFill/>
          <a:ln w="47625">
            <a:solidFill>
              <a:srgbClr val="7030A0"/>
            </a:solidFill>
          </a:ln>
        </p:spPr>
        <p:txBody>
          <a:bodyPr wrap="square" rtlCol="0">
            <a:spAutoFit/>
          </a:bodyPr>
          <a:lstStyle/>
          <a:p>
            <a:pPr algn="ctr"/>
            <a:r>
              <a:rPr lang="en-US" sz="1400" u="sng" dirty="0"/>
              <a:t>First and Second Run</a:t>
            </a:r>
          </a:p>
          <a:p>
            <a:pPr marL="285750" indent="-285750">
              <a:buFont typeface="Arial" panose="020B0604020202020204" pitchFamily="34" charset="0"/>
              <a:buChar char="•"/>
            </a:pPr>
            <a:r>
              <a:rPr lang="en-US" sz="1400" dirty="0"/>
              <a:t>As a privileged user (root), open a shell/SSH window and change directory ‘cd’ to cd/</a:t>
            </a:r>
            <a:r>
              <a:rPr lang="en-US" sz="1400" dirty="0" err="1"/>
              <a:t>mnt</a:t>
            </a:r>
            <a:r>
              <a:rPr lang="en-US" sz="1400" dirty="0"/>
              <a:t>/pool/scripts</a:t>
            </a:r>
          </a:p>
          <a:p>
            <a:pPr marL="285750" indent="-285750">
              <a:buFont typeface="Arial" panose="020B0604020202020204" pitchFamily="34" charset="0"/>
              <a:buChar char="•"/>
            </a:pPr>
            <a:r>
              <a:rPr lang="en-US" sz="1400" dirty="0"/>
              <a:t>First Run: Enter ./multi_report.sh -config</a:t>
            </a:r>
          </a:p>
          <a:p>
            <a:pPr marL="742950" lvl="1" indent="-285750">
              <a:buFont typeface="Arial" panose="020B0604020202020204" pitchFamily="34" charset="0"/>
              <a:buChar char="•"/>
            </a:pPr>
            <a:r>
              <a:rPr lang="en-US" sz="1400" dirty="0"/>
              <a:t>Follow the instructions to create a new multi_report_config.txt (configuration file).</a:t>
            </a:r>
          </a:p>
          <a:p>
            <a:pPr marL="285750" indent="-285750">
              <a:buFont typeface="Arial" panose="020B0604020202020204" pitchFamily="34" charset="0"/>
              <a:buChar char="•"/>
            </a:pPr>
            <a:r>
              <a:rPr lang="en-US" sz="1400" dirty="0"/>
              <a:t>Second Run: Enter ./multi_report.sh</a:t>
            </a:r>
          </a:p>
          <a:p>
            <a:pPr marL="742950" lvl="1" indent="-285750">
              <a:buFont typeface="Arial" panose="020B0604020202020204" pitchFamily="34" charset="0"/>
              <a:buChar char="•"/>
            </a:pPr>
            <a:r>
              <a:rPr lang="en-US" sz="1400" dirty="0"/>
              <a:t>The script should run without error.</a:t>
            </a:r>
          </a:p>
        </p:txBody>
      </p:sp>
      <p:sp>
        <p:nvSpPr>
          <p:cNvPr id="7" name="TextBox 6">
            <a:extLst>
              <a:ext uri="{FF2B5EF4-FFF2-40B4-BE49-F238E27FC236}">
                <a16:creationId xmlns:a16="http://schemas.microsoft.com/office/drawing/2014/main" id="{7854948E-85BA-9313-9FC8-E4A8007F7209}"/>
              </a:ext>
            </a:extLst>
          </p:cNvPr>
          <p:cNvSpPr txBox="1"/>
          <p:nvPr/>
        </p:nvSpPr>
        <p:spPr>
          <a:xfrm>
            <a:off x="6346892" y="4430369"/>
            <a:ext cx="5320218" cy="2246769"/>
          </a:xfrm>
          <a:prstGeom prst="rect">
            <a:avLst/>
          </a:prstGeom>
          <a:noFill/>
          <a:ln w="47625">
            <a:solidFill>
              <a:srgbClr val="7030A0"/>
            </a:solidFill>
          </a:ln>
        </p:spPr>
        <p:txBody>
          <a:bodyPr wrap="square" rtlCol="0">
            <a:spAutoFit/>
          </a:bodyPr>
          <a:lstStyle/>
          <a:p>
            <a:pPr algn="ctr"/>
            <a:r>
              <a:rPr lang="en-US" sz="1400" u="sng" dirty="0"/>
              <a:t>Notes:</a:t>
            </a:r>
          </a:p>
          <a:p>
            <a:pPr marL="285750" indent="-285750">
              <a:buFont typeface="Arial" panose="020B0604020202020204" pitchFamily="34" charset="0"/>
              <a:buChar char="•"/>
            </a:pPr>
            <a:r>
              <a:rPr lang="en-US" sz="1400" dirty="0"/>
              <a:t>To customize Multi-Report run the script with the ‘-config’ switch and select Advanced Configuration. </a:t>
            </a:r>
          </a:p>
          <a:p>
            <a:pPr marL="285750" indent="-285750">
              <a:buFont typeface="Arial" panose="020B0604020202020204" pitchFamily="34" charset="0"/>
              <a:buChar char="•"/>
            </a:pPr>
            <a:r>
              <a:rPr lang="en-US" sz="1400" dirty="0"/>
              <a:t>If you run into a real problem, search the TrueNAS forums first, and if you cannot figure it out, use the ‘-dump email’ switch to send me the required information I need to assist you.  I will return an email to you once I have looked at it.  I normally get back to people in less that 24 hours, keep in mind time zones, I’m in the USA, NY (ET).</a:t>
            </a:r>
          </a:p>
          <a:p>
            <a:endParaRPr lang="en-US" sz="1400" dirty="0"/>
          </a:p>
        </p:txBody>
      </p:sp>
      <p:sp>
        <p:nvSpPr>
          <p:cNvPr id="5" name="Rectangle 4">
            <a:extLst>
              <a:ext uri="{FF2B5EF4-FFF2-40B4-BE49-F238E27FC236}">
                <a16:creationId xmlns:a16="http://schemas.microsoft.com/office/drawing/2014/main" id="{A97B0F4C-D081-731C-D3DD-1D5E8BC908C6}"/>
              </a:ext>
            </a:extLst>
          </p:cNvPr>
          <p:cNvSpPr/>
          <p:nvPr/>
        </p:nvSpPr>
        <p:spPr>
          <a:xfrm>
            <a:off x="5520652" y="958866"/>
            <a:ext cx="662910" cy="584775"/>
          </a:xfrm>
          <a:prstGeom prst="rect">
            <a:avLst/>
          </a:prstGeom>
          <a:noFill/>
        </p:spPr>
        <p:txBody>
          <a:bodyPr wrap="squar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1</a:t>
            </a:r>
          </a:p>
        </p:txBody>
      </p:sp>
      <p:sp>
        <p:nvSpPr>
          <p:cNvPr id="8" name="Rectangle 7">
            <a:extLst>
              <a:ext uri="{FF2B5EF4-FFF2-40B4-BE49-F238E27FC236}">
                <a16:creationId xmlns:a16="http://schemas.microsoft.com/office/drawing/2014/main" id="{497C2074-4526-EDB3-5F3F-0A03F36A328C}"/>
              </a:ext>
            </a:extLst>
          </p:cNvPr>
          <p:cNvSpPr/>
          <p:nvPr/>
        </p:nvSpPr>
        <p:spPr>
          <a:xfrm>
            <a:off x="5520652" y="3845594"/>
            <a:ext cx="662910" cy="584775"/>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rPr>
              <a:t>2</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E1AC11E0-4E07-74E4-52EC-A232E5075690}"/>
              </a:ext>
            </a:extLst>
          </p:cNvPr>
          <p:cNvSpPr/>
          <p:nvPr/>
        </p:nvSpPr>
        <p:spPr>
          <a:xfrm>
            <a:off x="11044386" y="942690"/>
            <a:ext cx="662910" cy="584775"/>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rPr>
              <a:t>3</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0998D2EF-ED39-7D56-FCC4-185D76CFD62F}"/>
              </a:ext>
            </a:extLst>
          </p:cNvPr>
          <p:cNvSpPr/>
          <p:nvPr/>
        </p:nvSpPr>
        <p:spPr>
          <a:xfrm>
            <a:off x="11167530" y="4321861"/>
            <a:ext cx="662910" cy="584775"/>
          </a:xfrm>
          <a:prstGeom prst="rect">
            <a:avLst/>
          </a:prstGeom>
          <a:noFill/>
        </p:spPr>
        <p:txBody>
          <a:bodyPr wrap="squar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4</a:t>
            </a:r>
          </a:p>
        </p:txBody>
      </p:sp>
    </p:spTree>
    <p:extLst>
      <p:ext uri="{BB962C8B-B14F-4D97-AF65-F5344CB8AC3E}">
        <p14:creationId xmlns:p14="http://schemas.microsoft.com/office/powerpoint/2010/main" val="290500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8C6BCD5-3EBE-6B88-F61C-FEECE09B3EAD}"/>
              </a:ext>
            </a:extLst>
          </p:cNvPr>
          <p:cNvPicPr>
            <a:picLocks noChangeAspect="1"/>
          </p:cNvPicPr>
          <p:nvPr/>
        </p:nvPicPr>
        <p:blipFill>
          <a:blip r:embed="rId2"/>
          <a:stretch>
            <a:fillRect/>
          </a:stretch>
        </p:blipFill>
        <p:spPr>
          <a:xfrm>
            <a:off x="161097" y="1266523"/>
            <a:ext cx="11869806" cy="4324954"/>
          </a:xfrm>
          <a:prstGeom prst="rect">
            <a:avLst/>
          </a:prstGeom>
        </p:spPr>
      </p:pic>
      <p:sp>
        <p:nvSpPr>
          <p:cNvPr id="2" name="Title 1">
            <a:extLst>
              <a:ext uri="{FF2B5EF4-FFF2-40B4-BE49-F238E27FC236}">
                <a16:creationId xmlns:a16="http://schemas.microsoft.com/office/drawing/2014/main" id="{8A06B921-7DA6-A371-DA49-8532508BBC5E}"/>
              </a:ext>
            </a:extLst>
          </p:cNvPr>
          <p:cNvSpPr>
            <a:spLocks noGrp="1"/>
          </p:cNvSpPr>
          <p:nvPr>
            <p:ph type="title"/>
          </p:nvPr>
        </p:nvSpPr>
        <p:spPr>
          <a:xfrm>
            <a:off x="838200" y="365125"/>
            <a:ext cx="10515600" cy="522381"/>
          </a:xfrm>
        </p:spPr>
        <p:txBody>
          <a:bodyPr>
            <a:normAutofit fontScale="90000"/>
          </a:bodyPr>
          <a:lstStyle/>
          <a:p>
            <a:pPr algn="ctr"/>
            <a:r>
              <a:rPr lang="en-US" dirty="0"/>
              <a:t>Anatomy of the Multi-Report Email</a:t>
            </a:r>
          </a:p>
        </p:txBody>
      </p:sp>
      <p:sp>
        <p:nvSpPr>
          <p:cNvPr id="7" name="Speech Bubble: Oval 6">
            <a:extLst>
              <a:ext uri="{FF2B5EF4-FFF2-40B4-BE49-F238E27FC236}">
                <a16:creationId xmlns:a16="http://schemas.microsoft.com/office/drawing/2014/main" id="{51889B1B-AEB1-A955-B076-684C0F112938}"/>
              </a:ext>
            </a:extLst>
          </p:cNvPr>
          <p:cNvSpPr/>
          <p:nvPr/>
        </p:nvSpPr>
        <p:spPr>
          <a:xfrm>
            <a:off x="6635049" y="994748"/>
            <a:ext cx="2985084" cy="1172380"/>
          </a:xfrm>
          <a:prstGeom prst="wedgeEllipseCallout">
            <a:avLst>
              <a:gd name="adj1" fmla="val -94310"/>
              <a:gd name="adj2" fmla="val 324"/>
            </a:avLst>
          </a:prstGeom>
          <a:solidFill>
            <a:schemeClr val="accent2">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Subject Line with Summary (Warning, Caution, Script Update Available, or Custom)</a:t>
            </a:r>
          </a:p>
        </p:txBody>
      </p:sp>
      <p:sp>
        <p:nvSpPr>
          <p:cNvPr id="11" name="Callout: Line 10">
            <a:extLst>
              <a:ext uri="{FF2B5EF4-FFF2-40B4-BE49-F238E27FC236}">
                <a16:creationId xmlns:a16="http://schemas.microsoft.com/office/drawing/2014/main" id="{679E90A4-8F2B-C24D-242E-92AE21FA4A2F}"/>
              </a:ext>
            </a:extLst>
          </p:cNvPr>
          <p:cNvSpPr/>
          <p:nvPr/>
        </p:nvSpPr>
        <p:spPr>
          <a:xfrm>
            <a:off x="6415593" y="2274370"/>
            <a:ext cx="2863273" cy="1261872"/>
          </a:xfrm>
          <a:prstGeom prst="borderCallout1">
            <a:avLst>
              <a:gd name="adj1" fmla="val 52836"/>
              <a:gd name="adj2" fmla="val -657"/>
              <a:gd name="adj3" fmla="val 55619"/>
              <a:gd name="adj4" fmla="val -58971"/>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Version Info</a:t>
            </a:r>
          </a:p>
          <a:p>
            <a:pPr algn="ctr"/>
            <a:r>
              <a:rPr lang="en-US" sz="1200" dirty="0"/>
              <a:t>Date/Time of Report</a:t>
            </a:r>
          </a:p>
          <a:p>
            <a:pPr algn="ctr"/>
            <a:r>
              <a:rPr lang="en-US" sz="1200" dirty="0"/>
              <a:t>RAM/SWAP Specs</a:t>
            </a:r>
          </a:p>
          <a:p>
            <a:pPr algn="ctr"/>
            <a:r>
              <a:rPr lang="en-US" sz="1200" dirty="0"/>
              <a:t>Uptime</a:t>
            </a:r>
          </a:p>
          <a:p>
            <a:pPr algn="ctr"/>
            <a:r>
              <a:rPr lang="en-US" sz="1200" dirty="0"/>
              <a:t>Run Duration of the Script</a:t>
            </a:r>
          </a:p>
          <a:p>
            <a:pPr algn="ctr"/>
            <a:r>
              <a:rPr lang="en-US" sz="1200" dirty="0"/>
              <a:t>Updates if available</a:t>
            </a:r>
          </a:p>
        </p:txBody>
      </p:sp>
      <p:sp>
        <p:nvSpPr>
          <p:cNvPr id="12" name="Callout: Line 11">
            <a:extLst>
              <a:ext uri="{FF2B5EF4-FFF2-40B4-BE49-F238E27FC236}">
                <a16:creationId xmlns:a16="http://schemas.microsoft.com/office/drawing/2014/main" id="{ECC8E135-DD8E-8C8C-195B-C9BEBB09BBB8}"/>
              </a:ext>
            </a:extLst>
          </p:cNvPr>
          <p:cNvSpPr/>
          <p:nvPr/>
        </p:nvSpPr>
        <p:spPr>
          <a:xfrm>
            <a:off x="9951274" y="2442356"/>
            <a:ext cx="1764146" cy="655782"/>
          </a:xfrm>
          <a:prstGeom prst="borderCallout1">
            <a:avLst>
              <a:gd name="adj1" fmla="val 105524"/>
              <a:gd name="adj2" fmla="val 50360"/>
              <a:gd name="adj3" fmla="val 244502"/>
              <a:gd name="adj4" fmla="val 63353"/>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Total Lifetime Data Values for all the drives in a pool.</a:t>
            </a:r>
          </a:p>
        </p:txBody>
      </p:sp>
    </p:spTree>
    <p:extLst>
      <p:ext uri="{BB962C8B-B14F-4D97-AF65-F5344CB8AC3E}">
        <p14:creationId xmlns:p14="http://schemas.microsoft.com/office/powerpoint/2010/main" val="209986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B921-7DA6-A371-DA49-8532508BBC5E}"/>
              </a:ext>
            </a:extLst>
          </p:cNvPr>
          <p:cNvSpPr>
            <a:spLocks noGrp="1"/>
          </p:cNvSpPr>
          <p:nvPr>
            <p:ph type="title"/>
          </p:nvPr>
        </p:nvSpPr>
        <p:spPr>
          <a:xfrm>
            <a:off x="838200" y="365125"/>
            <a:ext cx="10515600" cy="522381"/>
          </a:xfrm>
        </p:spPr>
        <p:txBody>
          <a:bodyPr>
            <a:normAutofit fontScale="90000"/>
          </a:bodyPr>
          <a:lstStyle/>
          <a:p>
            <a:pPr algn="ctr"/>
            <a:r>
              <a:rPr lang="en-US" dirty="0"/>
              <a:t>Anatomy of the Multi-Report Email</a:t>
            </a:r>
          </a:p>
        </p:txBody>
      </p:sp>
      <p:pic>
        <p:nvPicPr>
          <p:cNvPr id="5" name="Picture 4">
            <a:extLst>
              <a:ext uri="{FF2B5EF4-FFF2-40B4-BE49-F238E27FC236}">
                <a16:creationId xmlns:a16="http://schemas.microsoft.com/office/drawing/2014/main" id="{EF469152-FB3B-1971-F1DE-DF079B12D66D}"/>
              </a:ext>
            </a:extLst>
          </p:cNvPr>
          <p:cNvPicPr>
            <a:picLocks noChangeAspect="1"/>
          </p:cNvPicPr>
          <p:nvPr/>
        </p:nvPicPr>
        <p:blipFill>
          <a:blip r:embed="rId2"/>
          <a:stretch>
            <a:fillRect/>
          </a:stretch>
        </p:blipFill>
        <p:spPr>
          <a:xfrm>
            <a:off x="0" y="1627372"/>
            <a:ext cx="12192000" cy="4471472"/>
          </a:xfrm>
          <a:prstGeom prst="rect">
            <a:avLst/>
          </a:prstGeom>
        </p:spPr>
      </p:pic>
      <p:sp>
        <p:nvSpPr>
          <p:cNvPr id="6" name="Callout: Line 5">
            <a:extLst>
              <a:ext uri="{FF2B5EF4-FFF2-40B4-BE49-F238E27FC236}">
                <a16:creationId xmlns:a16="http://schemas.microsoft.com/office/drawing/2014/main" id="{0077D4FB-A682-6BA8-D666-A921CFF007B0}"/>
              </a:ext>
            </a:extLst>
          </p:cNvPr>
          <p:cNvSpPr/>
          <p:nvPr/>
        </p:nvSpPr>
        <p:spPr>
          <a:xfrm>
            <a:off x="157016" y="1062948"/>
            <a:ext cx="1764146" cy="522382"/>
          </a:xfrm>
          <a:prstGeom prst="borderCallout1">
            <a:avLst>
              <a:gd name="adj1" fmla="val 110300"/>
              <a:gd name="adj2" fmla="val 47688"/>
              <a:gd name="adj3" fmla="val 269697"/>
              <a:gd name="adj4" fmla="val 21338"/>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SMR Checking </a:t>
            </a:r>
          </a:p>
          <a:p>
            <a:pPr algn="ctr"/>
            <a:r>
              <a:rPr lang="en-US" sz="1200" dirty="0"/>
              <a:t>Yellow = Alarm Override</a:t>
            </a:r>
          </a:p>
        </p:txBody>
      </p:sp>
      <p:sp>
        <p:nvSpPr>
          <p:cNvPr id="7" name="Callout: Line 6">
            <a:extLst>
              <a:ext uri="{FF2B5EF4-FFF2-40B4-BE49-F238E27FC236}">
                <a16:creationId xmlns:a16="http://schemas.microsoft.com/office/drawing/2014/main" id="{D5BE9C01-ECFB-E9F8-0FD4-722B09575E27}"/>
              </a:ext>
            </a:extLst>
          </p:cNvPr>
          <p:cNvSpPr/>
          <p:nvPr/>
        </p:nvSpPr>
        <p:spPr>
          <a:xfrm>
            <a:off x="4840583" y="887506"/>
            <a:ext cx="4405203" cy="739866"/>
          </a:xfrm>
          <a:prstGeom prst="borderCallout1">
            <a:avLst>
              <a:gd name="adj1" fmla="val 102106"/>
              <a:gd name="adj2" fmla="val 66998"/>
              <a:gd name="adj3" fmla="val 204532"/>
              <a:gd name="adj4" fmla="val 68864"/>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“0” = Compensated Value</a:t>
            </a:r>
          </a:p>
          <a:p>
            <a:pPr algn="ctr"/>
            <a:r>
              <a:rPr lang="en-US" sz="1200" dirty="0"/>
              <a:t>“(2)” = Real Value, Yellow = Alarm Override</a:t>
            </a:r>
          </a:p>
          <a:p>
            <a:pPr algn="ctr"/>
            <a:r>
              <a:rPr lang="en-US" sz="1200" dirty="0"/>
              <a:t>Purpose: To easily identify new alarms</a:t>
            </a:r>
          </a:p>
        </p:txBody>
      </p:sp>
      <p:sp>
        <p:nvSpPr>
          <p:cNvPr id="8" name="Callout: Line 7">
            <a:extLst>
              <a:ext uri="{FF2B5EF4-FFF2-40B4-BE49-F238E27FC236}">
                <a16:creationId xmlns:a16="http://schemas.microsoft.com/office/drawing/2014/main" id="{D34508FE-7D15-6D1D-77B6-F7403444DF0D}"/>
              </a:ext>
            </a:extLst>
          </p:cNvPr>
          <p:cNvSpPr/>
          <p:nvPr/>
        </p:nvSpPr>
        <p:spPr>
          <a:xfrm>
            <a:off x="9938328" y="996667"/>
            <a:ext cx="1884217" cy="522382"/>
          </a:xfrm>
          <a:prstGeom prst="borderCallout1">
            <a:avLst>
              <a:gd name="adj1" fmla="val 103258"/>
              <a:gd name="adj2" fmla="val 94165"/>
              <a:gd name="adj3" fmla="val 187148"/>
              <a:gd name="adj4" fmla="val 99422"/>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30 Day Rolling Average, can be set to Calendar Month</a:t>
            </a:r>
          </a:p>
        </p:txBody>
      </p:sp>
      <p:sp>
        <p:nvSpPr>
          <p:cNvPr id="9" name="Callout: Line 8">
            <a:extLst>
              <a:ext uri="{FF2B5EF4-FFF2-40B4-BE49-F238E27FC236}">
                <a16:creationId xmlns:a16="http://schemas.microsoft.com/office/drawing/2014/main" id="{981E633C-DCC6-58FE-AB53-3CC532AA18CF}"/>
              </a:ext>
            </a:extLst>
          </p:cNvPr>
          <p:cNvSpPr/>
          <p:nvPr/>
        </p:nvSpPr>
        <p:spPr>
          <a:xfrm>
            <a:off x="8650941" y="6140886"/>
            <a:ext cx="3171604" cy="583187"/>
          </a:xfrm>
          <a:prstGeom prst="borderCallout1">
            <a:avLst>
              <a:gd name="adj1" fmla="val -1104"/>
              <a:gd name="adj2" fmla="val 22855"/>
              <a:gd name="adj3" fmla="val -22582"/>
              <a:gd name="adj4" fmla="val 11518"/>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 Short S.M.A.R.T. Test Completed</a:t>
            </a:r>
          </a:p>
          <a:p>
            <a:pPr algn="ctr"/>
            <a:r>
              <a:rPr lang="en-US" sz="1200" dirty="0"/>
              <a:t>(987) Hours the test completed. If the last test was a Long test, that would be indicated here</a:t>
            </a:r>
          </a:p>
        </p:txBody>
      </p:sp>
      <p:sp>
        <p:nvSpPr>
          <p:cNvPr id="10" name="Callout: Line 9">
            <a:extLst>
              <a:ext uri="{FF2B5EF4-FFF2-40B4-BE49-F238E27FC236}">
                <a16:creationId xmlns:a16="http://schemas.microsoft.com/office/drawing/2014/main" id="{2ADD84A0-6546-6C91-E6C0-E72B59B7D7E4}"/>
              </a:ext>
            </a:extLst>
          </p:cNvPr>
          <p:cNvSpPr/>
          <p:nvPr/>
        </p:nvSpPr>
        <p:spPr>
          <a:xfrm>
            <a:off x="4239493" y="6163982"/>
            <a:ext cx="3819236" cy="583187"/>
          </a:xfrm>
          <a:prstGeom prst="borderCallout1">
            <a:avLst>
              <a:gd name="adj1" fmla="val 26845"/>
              <a:gd name="adj2" fmla="val 100576"/>
              <a:gd name="adj3" fmla="val -33621"/>
              <a:gd name="adj4" fmla="val 103738"/>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How many 24 hour periods (value is based on 24 hours)  have past since last S.M.A.R.T. test</a:t>
            </a:r>
          </a:p>
        </p:txBody>
      </p:sp>
      <p:sp>
        <p:nvSpPr>
          <p:cNvPr id="3" name="Callout: Line 2">
            <a:extLst>
              <a:ext uri="{FF2B5EF4-FFF2-40B4-BE49-F238E27FC236}">
                <a16:creationId xmlns:a16="http://schemas.microsoft.com/office/drawing/2014/main" id="{4093B0DE-A51D-EC83-7021-FE9C4461B1B0}"/>
              </a:ext>
            </a:extLst>
          </p:cNvPr>
          <p:cNvSpPr/>
          <p:nvPr/>
        </p:nvSpPr>
        <p:spPr>
          <a:xfrm>
            <a:off x="8763950" y="2655136"/>
            <a:ext cx="1884217" cy="522382"/>
          </a:xfrm>
          <a:prstGeom prst="borderCallout1">
            <a:avLst>
              <a:gd name="adj1" fmla="val 106690"/>
              <a:gd name="adj2" fmla="val 85125"/>
              <a:gd name="adj3" fmla="val 195572"/>
              <a:gd name="adj4" fmla="val 88955"/>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Total Lifetime Data Read or Written to the drive</a:t>
            </a:r>
          </a:p>
        </p:txBody>
      </p:sp>
      <p:sp>
        <p:nvSpPr>
          <p:cNvPr id="4" name="Callout: Line 3">
            <a:extLst>
              <a:ext uri="{FF2B5EF4-FFF2-40B4-BE49-F238E27FC236}">
                <a16:creationId xmlns:a16="http://schemas.microsoft.com/office/drawing/2014/main" id="{0C9A1345-8E37-1D7B-68F4-E3007C2ABC86}"/>
              </a:ext>
            </a:extLst>
          </p:cNvPr>
          <p:cNvSpPr/>
          <p:nvPr/>
        </p:nvSpPr>
        <p:spPr>
          <a:xfrm>
            <a:off x="2931460" y="4125348"/>
            <a:ext cx="1927412" cy="545263"/>
          </a:xfrm>
          <a:prstGeom prst="borderCallout1">
            <a:avLst>
              <a:gd name="adj1" fmla="val 103258"/>
              <a:gd name="adj2" fmla="val 94165"/>
              <a:gd name="adj3" fmla="val 164131"/>
              <a:gd name="adj4" fmla="val 127329"/>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The power state of the </a:t>
            </a:r>
            <a:r>
              <a:rPr lang="en-US" sz="1200" dirty="0" err="1"/>
              <a:t>NVMe</a:t>
            </a:r>
            <a:r>
              <a:rPr lang="en-US" sz="1200" dirty="0"/>
              <a:t> when the script is near completion</a:t>
            </a:r>
          </a:p>
        </p:txBody>
      </p:sp>
      <p:sp>
        <p:nvSpPr>
          <p:cNvPr id="13" name="Callout: Line 12">
            <a:extLst>
              <a:ext uri="{FF2B5EF4-FFF2-40B4-BE49-F238E27FC236}">
                <a16:creationId xmlns:a16="http://schemas.microsoft.com/office/drawing/2014/main" id="{CF12CE43-C3B0-ED0A-3F93-FA69820375BF}"/>
              </a:ext>
            </a:extLst>
          </p:cNvPr>
          <p:cNvSpPr/>
          <p:nvPr/>
        </p:nvSpPr>
        <p:spPr>
          <a:xfrm>
            <a:off x="8154996" y="4125348"/>
            <a:ext cx="3245350" cy="368140"/>
          </a:xfrm>
          <a:prstGeom prst="borderCallout1">
            <a:avLst>
              <a:gd name="adj1" fmla="val 30419"/>
              <a:gd name="adj2" fmla="val -1198"/>
              <a:gd name="adj3" fmla="val -20507"/>
              <a:gd name="adj4" fmla="val -40395"/>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 means  No Value  is available for this drive</a:t>
            </a:r>
          </a:p>
        </p:txBody>
      </p:sp>
    </p:spTree>
    <p:extLst>
      <p:ext uri="{BB962C8B-B14F-4D97-AF65-F5344CB8AC3E}">
        <p14:creationId xmlns:p14="http://schemas.microsoft.com/office/powerpoint/2010/main" val="3952754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6CBE-B9C8-314B-0A90-98B18D0E9A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11BE70-60AD-AE0C-BDC4-AAC1CE722FEF}"/>
              </a:ext>
            </a:extLst>
          </p:cNvPr>
          <p:cNvPicPr>
            <a:picLocks noChangeAspect="1"/>
          </p:cNvPicPr>
          <p:nvPr/>
        </p:nvPicPr>
        <p:blipFill>
          <a:blip r:embed="rId2"/>
          <a:stretch>
            <a:fillRect/>
          </a:stretch>
        </p:blipFill>
        <p:spPr>
          <a:xfrm>
            <a:off x="0" y="1540282"/>
            <a:ext cx="12192000" cy="3777436"/>
          </a:xfrm>
          <a:prstGeom prst="rect">
            <a:avLst/>
          </a:prstGeom>
        </p:spPr>
      </p:pic>
      <p:sp>
        <p:nvSpPr>
          <p:cNvPr id="2" name="Title 1">
            <a:extLst>
              <a:ext uri="{FF2B5EF4-FFF2-40B4-BE49-F238E27FC236}">
                <a16:creationId xmlns:a16="http://schemas.microsoft.com/office/drawing/2014/main" id="{088FFB0F-BE28-D724-5B50-A843118A7D81}"/>
              </a:ext>
            </a:extLst>
          </p:cNvPr>
          <p:cNvSpPr>
            <a:spLocks noGrp="1"/>
          </p:cNvSpPr>
          <p:nvPr>
            <p:ph type="title"/>
          </p:nvPr>
        </p:nvSpPr>
        <p:spPr>
          <a:xfrm>
            <a:off x="838200" y="365125"/>
            <a:ext cx="10515600" cy="522381"/>
          </a:xfrm>
        </p:spPr>
        <p:txBody>
          <a:bodyPr>
            <a:normAutofit fontScale="90000"/>
          </a:bodyPr>
          <a:lstStyle/>
          <a:p>
            <a:pPr algn="ctr"/>
            <a:r>
              <a:rPr lang="en-US" dirty="0"/>
              <a:t>Anatomy of the Multi-Report Email</a:t>
            </a:r>
          </a:p>
        </p:txBody>
      </p:sp>
      <p:sp>
        <p:nvSpPr>
          <p:cNvPr id="6" name="Callout: Line 5">
            <a:extLst>
              <a:ext uri="{FF2B5EF4-FFF2-40B4-BE49-F238E27FC236}">
                <a16:creationId xmlns:a16="http://schemas.microsoft.com/office/drawing/2014/main" id="{135843C0-1983-722B-E763-17CFD5FCC645}"/>
              </a:ext>
            </a:extLst>
          </p:cNvPr>
          <p:cNvSpPr/>
          <p:nvPr/>
        </p:nvSpPr>
        <p:spPr>
          <a:xfrm>
            <a:off x="202317" y="941774"/>
            <a:ext cx="1764146" cy="522382"/>
          </a:xfrm>
          <a:prstGeom prst="borderCallout1">
            <a:avLst>
              <a:gd name="adj1" fmla="val 110300"/>
              <a:gd name="adj2" fmla="val 47688"/>
              <a:gd name="adj3" fmla="val 266195"/>
              <a:gd name="adj4" fmla="val 191867"/>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Warranty Remaining</a:t>
            </a:r>
          </a:p>
        </p:txBody>
      </p:sp>
      <p:sp>
        <p:nvSpPr>
          <p:cNvPr id="3" name="Callout: Line 2">
            <a:extLst>
              <a:ext uri="{FF2B5EF4-FFF2-40B4-BE49-F238E27FC236}">
                <a16:creationId xmlns:a16="http://schemas.microsoft.com/office/drawing/2014/main" id="{223E4245-6C96-0737-180A-80C7A83B3DAC}"/>
              </a:ext>
            </a:extLst>
          </p:cNvPr>
          <p:cNvSpPr/>
          <p:nvPr/>
        </p:nvSpPr>
        <p:spPr>
          <a:xfrm>
            <a:off x="9294634" y="945150"/>
            <a:ext cx="1884217" cy="522382"/>
          </a:xfrm>
          <a:prstGeom prst="borderCallout1">
            <a:avLst>
              <a:gd name="adj1" fmla="val 106690"/>
              <a:gd name="adj2" fmla="val 85125"/>
              <a:gd name="adj3" fmla="val 183373"/>
              <a:gd name="adj4" fmla="val 86529"/>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Total Lifetime Data Read or Written to the drive</a:t>
            </a:r>
          </a:p>
        </p:txBody>
      </p:sp>
      <p:sp>
        <p:nvSpPr>
          <p:cNvPr id="13" name="Callout: Line 12">
            <a:extLst>
              <a:ext uri="{FF2B5EF4-FFF2-40B4-BE49-F238E27FC236}">
                <a16:creationId xmlns:a16="http://schemas.microsoft.com/office/drawing/2014/main" id="{996E251B-4269-6E6D-7CCD-A25CA8219D80}"/>
              </a:ext>
            </a:extLst>
          </p:cNvPr>
          <p:cNvSpPr/>
          <p:nvPr/>
        </p:nvSpPr>
        <p:spPr>
          <a:xfrm>
            <a:off x="6740425" y="3965378"/>
            <a:ext cx="1909799" cy="314014"/>
          </a:xfrm>
          <a:prstGeom prst="borderCallout1">
            <a:avLst>
              <a:gd name="adj1" fmla="val 27507"/>
              <a:gd name="adj2" fmla="val 100785"/>
              <a:gd name="adj3" fmla="val -43375"/>
              <a:gd name="adj4" fmla="val 123283"/>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 means  No Value Exists</a:t>
            </a:r>
          </a:p>
        </p:txBody>
      </p:sp>
      <p:sp>
        <p:nvSpPr>
          <p:cNvPr id="14" name="Callout: Line 13">
            <a:extLst>
              <a:ext uri="{FF2B5EF4-FFF2-40B4-BE49-F238E27FC236}">
                <a16:creationId xmlns:a16="http://schemas.microsoft.com/office/drawing/2014/main" id="{966DD0B8-B991-FD23-1AD4-AA597EB5E30A}"/>
              </a:ext>
            </a:extLst>
          </p:cNvPr>
          <p:cNvSpPr/>
          <p:nvPr/>
        </p:nvSpPr>
        <p:spPr>
          <a:xfrm>
            <a:off x="2420471" y="941774"/>
            <a:ext cx="1764146" cy="522382"/>
          </a:xfrm>
          <a:prstGeom prst="borderCallout1">
            <a:avLst>
              <a:gd name="adj1" fmla="val 101548"/>
              <a:gd name="adj2" fmla="val 86562"/>
              <a:gd name="adj3" fmla="val 337964"/>
              <a:gd name="adj4" fmla="val 80946"/>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Warranty Exceeded (Yellow Background)</a:t>
            </a:r>
          </a:p>
        </p:txBody>
      </p:sp>
      <p:sp>
        <p:nvSpPr>
          <p:cNvPr id="7" name="Callout: Line 6">
            <a:extLst>
              <a:ext uri="{FF2B5EF4-FFF2-40B4-BE49-F238E27FC236}">
                <a16:creationId xmlns:a16="http://schemas.microsoft.com/office/drawing/2014/main" id="{A39E1F28-E535-C0DB-4026-71D93900101F}"/>
              </a:ext>
            </a:extLst>
          </p:cNvPr>
          <p:cNvSpPr/>
          <p:nvPr/>
        </p:nvSpPr>
        <p:spPr>
          <a:xfrm>
            <a:off x="9294634" y="3945581"/>
            <a:ext cx="1909799" cy="631045"/>
          </a:xfrm>
          <a:prstGeom prst="borderCallout1">
            <a:avLst>
              <a:gd name="adj1" fmla="val 27507"/>
              <a:gd name="adj2" fmla="val 100785"/>
              <a:gd name="adj3" fmla="val -12946"/>
              <a:gd name="adj4" fmla="val 125677"/>
            </a:avLst>
          </a:prstGeom>
          <a:solidFill>
            <a:schemeClr val="accent2"/>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(xx%) is the percentage of Writing to Reading for the given period of time</a:t>
            </a:r>
          </a:p>
        </p:txBody>
      </p:sp>
    </p:spTree>
    <p:extLst>
      <p:ext uri="{BB962C8B-B14F-4D97-AF65-F5344CB8AC3E}">
        <p14:creationId xmlns:p14="http://schemas.microsoft.com/office/powerpoint/2010/main" val="2229037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FF7B13-B11F-08C4-3CE6-895DA190C644}"/>
              </a:ext>
            </a:extLst>
          </p:cNvPr>
          <p:cNvSpPr>
            <a:spLocks noGrp="1"/>
          </p:cNvSpPr>
          <p:nvPr>
            <p:ph type="title"/>
          </p:nvPr>
        </p:nvSpPr>
        <p:spPr>
          <a:xfrm>
            <a:off x="390144" y="177355"/>
            <a:ext cx="4639056" cy="681863"/>
          </a:xfrm>
        </p:spPr>
        <p:txBody>
          <a:bodyPr>
            <a:noAutofit/>
          </a:bodyPr>
          <a:lstStyle/>
          <a:p>
            <a:pPr algn="ctr"/>
            <a:r>
              <a:rPr lang="en-US" sz="2400" dirty="0"/>
              <a:t>Anatomy of the Multi-Report Email</a:t>
            </a:r>
            <a:br>
              <a:rPr lang="en-US" sz="2400" dirty="0"/>
            </a:br>
            <a:r>
              <a:rPr lang="en-US" sz="2400" dirty="0"/>
              <a:t>(Version 3.20 Changes)</a:t>
            </a:r>
          </a:p>
        </p:txBody>
      </p:sp>
      <p:pic>
        <p:nvPicPr>
          <p:cNvPr id="5" name="Picture 4">
            <a:extLst>
              <a:ext uri="{FF2B5EF4-FFF2-40B4-BE49-F238E27FC236}">
                <a16:creationId xmlns:a16="http://schemas.microsoft.com/office/drawing/2014/main" id="{499EC57B-7615-1CEC-4C68-4FB8974E071F}"/>
              </a:ext>
            </a:extLst>
          </p:cNvPr>
          <p:cNvPicPr>
            <a:picLocks noChangeAspect="1"/>
          </p:cNvPicPr>
          <p:nvPr/>
        </p:nvPicPr>
        <p:blipFill>
          <a:blip r:embed="rId2"/>
          <a:stretch>
            <a:fillRect/>
          </a:stretch>
        </p:blipFill>
        <p:spPr>
          <a:xfrm>
            <a:off x="603504" y="1212701"/>
            <a:ext cx="11173968" cy="5280174"/>
          </a:xfrm>
          <a:prstGeom prst="rect">
            <a:avLst/>
          </a:prstGeom>
        </p:spPr>
      </p:pic>
      <p:sp>
        <p:nvSpPr>
          <p:cNvPr id="6" name="Callout: Line 5">
            <a:extLst>
              <a:ext uri="{FF2B5EF4-FFF2-40B4-BE49-F238E27FC236}">
                <a16:creationId xmlns:a16="http://schemas.microsoft.com/office/drawing/2014/main" id="{23D47C27-4751-DADA-CA7D-2750262D9A0D}"/>
              </a:ext>
            </a:extLst>
          </p:cNvPr>
          <p:cNvSpPr/>
          <p:nvPr/>
        </p:nvSpPr>
        <p:spPr>
          <a:xfrm>
            <a:off x="5340096" y="246570"/>
            <a:ext cx="2788920" cy="612648"/>
          </a:xfrm>
          <a:prstGeom prst="borderCallout1">
            <a:avLst>
              <a:gd name="adj1" fmla="val 50093"/>
              <a:gd name="adj2" fmla="val -947"/>
              <a:gd name="adj3" fmla="val 328918"/>
              <a:gd name="adj4" fmla="val -465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SMART Enabled/Disabled Status and PASSED/FAILED results</a:t>
            </a:r>
          </a:p>
        </p:txBody>
      </p:sp>
      <p:sp>
        <p:nvSpPr>
          <p:cNvPr id="7" name="Callout: Line 6">
            <a:extLst>
              <a:ext uri="{FF2B5EF4-FFF2-40B4-BE49-F238E27FC236}">
                <a16:creationId xmlns:a16="http://schemas.microsoft.com/office/drawing/2014/main" id="{A16099E8-E7AB-969A-88BE-F38688594B28}"/>
              </a:ext>
            </a:extLst>
          </p:cNvPr>
          <p:cNvSpPr/>
          <p:nvPr/>
        </p:nvSpPr>
        <p:spPr>
          <a:xfrm>
            <a:off x="8732520" y="246570"/>
            <a:ext cx="2788920" cy="612648"/>
          </a:xfrm>
          <a:prstGeom prst="borderCallout1">
            <a:avLst>
              <a:gd name="adj1" fmla="val 50093"/>
              <a:gd name="adj2" fmla="val -947"/>
              <a:gd name="adj3" fmla="val 146829"/>
              <a:gd name="adj4" fmla="val -20038"/>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User changeable fonts</a:t>
            </a:r>
          </a:p>
        </p:txBody>
      </p:sp>
      <p:sp>
        <p:nvSpPr>
          <p:cNvPr id="8" name="Callout: Line 7">
            <a:extLst>
              <a:ext uri="{FF2B5EF4-FFF2-40B4-BE49-F238E27FC236}">
                <a16:creationId xmlns:a16="http://schemas.microsoft.com/office/drawing/2014/main" id="{22529185-160C-1831-5C5C-7D4F2814623B}"/>
              </a:ext>
            </a:extLst>
          </p:cNvPr>
          <p:cNvSpPr/>
          <p:nvPr/>
        </p:nvSpPr>
        <p:spPr>
          <a:xfrm>
            <a:off x="2145792" y="4577778"/>
            <a:ext cx="2788920" cy="612648"/>
          </a:xfrm>
          <a:prstGeom prst="borderCallout1">
            <a:avLst>
              <a:gd name="adj1" fmla="val 102332"/>
              <a:gd name="adj2" fmla="val 96102"/>
              <a:gd name="adj3" fmla="val 282649"/>
              <a:gd name="adj4" fmla="val 11504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NVMe</a:t>
            </a:r>
            <a:r>
              <a:rPr lang="en-US" sz="1200" dirty="0"/>
              <a:t> Reports Min/Max Temps since power on, if available</a:t>
            </a:r>
          </a:p>
        </p:txBody>
      </p:sp>
      <p:sp>
        <p:nvSpPr>
          <p:cNvPr id="9" name="Callout: Line 8">
            <a:extLst>
              <a:ext uri="{FF2B5EF4-FFF2-40B4-BE49-F238E27FC236}">
                <a16:creationId xmlns:a16="http://schemas.microsoft.com/office/drawing/2014/main" id="{D9B7A3FB-84D1-ED25-96F3-561842C2506A}"/>
              </a:ext>
            </a:extLst>
          </p:cNvPr>
          <p:cNvSpPr/>
          <p:nvPr/>
        </p:nvSpPr>
        <p:spPr>
          <a:xfrm>
            <a:off x="8235696" y="4577778"/>
            <a:ext cx="2334768" cy="524574"/>
          </a:xfrm>
          <a:prstGeom prst="borderCallout1">
            <a:avLst>
              <a:gd name="adj1" fmla="val 51836"/>
              <a:gd name="adj2" fmla="val 100097"/>
              <a:gd name="adj3" fmla="val -13539"/>
              <a:gd name="adj4" fmla="val 13466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Added a little color</a:t>
            </a:r>
          </a:p>
        </p:txBody>
      </p:sp>
    </p:spTree>
    <p:extLst>
      <p:ext uri="{BB962C8B-B14F-4D97-AF65-F5344CB8AC3E}">
        <p14:creationId xmlns:p14="http://schemas.microsoft.com/office/powerpoint/2010/main" val="4283615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B02426-2E92-6606-8AB1-49FEB5291B1B}"/>
              </a:ext>
            </a:extLst>
          </p:cNvPr>
          <p:cNvPicPr>
            <a:picLocks noChangeAspect="1"/>
          </p:cNvPicPr>
          <p:nvPr/>
        </p:nvPicPr>
        <p:blipFill>
          <a:blip r:embed="rId2"/>
          <a:stretch>
            <a:fillRect/>
          </a:stretch>
        </p:blipFill>
        <p:spPr>
          <a:xfrm>
            <a:off x="539496" y="947593"/>
            <a:ext cx="8526065" cy="4915586"/>
          </a:xfrm>
          <a:prstGeom prst="rect">
            <a:avLst/>
          </a:prstGeom>
        </p:spPr>
      </p:pic>
      <p:sp>
        <p:nvSpPr>
          <p:cNvPr id="3" name="Title 1">
            <a:extLst>
              <a:ext uri="{FF2B5EF4-FFF2-40B4-BE49-F238E27FC236}">
                <a16:creationId xmlns:a16="http://schemas.microsoft.com/office/drawing/2014/main" id="{63CFC898-41B5-32D8-24CF-F01F84D09BFD}"/>
              </a:ext>
            </a:extLst>
          </p:cNvPr>
          <p:cNvSpPr txBox="1">
            <a:spLocks/>
          </p:cNvSpPr>
          <p:nvPr/>
        </p:nvSpPr>
        <p:spPr>
          <a:xfrm>
            <a:off x="838200" y="365125"/>
            <a:ext cx="10515600" cy="522381"/>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Anatomy of the Multi-Report Email</a:t>
            </a:r>
            <a:endParaRPr lang="en-US" dirty="0"/>
          </a:p>
        </p:txBody>
      </p:sp>
      <p:sp>
        <p:nvSpPr>
          <p:cNvPr id="12" name="Speech Bubble: Rectangle with Corners Rounded 11">
            <a:extLst>
              <a:ext uri="{FF2B5EF4-FFF2-40B4-BE49-F238E27FC236}">
                <a16:creationId xmlns:a16="http://schemas.microsoft.com/office/drawing/2014/main" id="{5279C67B-4658-025E-C8AF-876B59AB0CD9}"/>
              </a:ext>
            </a:extLst>
          </p:cNvPr>
          <p:cNvSpPr/>
          <p:nvPr/>
        </p:nvSpPr>
        <p:spPr>
          <a:xfrm>
            <a:off x="9322518" y="1272738"/>
            <a:ext cx="2466109" cy="1203484"/>
          </a:xfrm>
          <a:prstGeom prst="wedgeRoundRectCallout">
            <a:avLst>
              <a:gd name="adj1" fmla="val -132252"/>
              <a:gd name="adj2" fmla="val 49910"/>
              <a:gd name="adj3" fmla="val 16667"/>
            </a:avLst>
          </a:prstGeom>
          <a:solidFill>
            <a:schemeClr val="accent2">
              <a:lumMod val="20000"/>
              <a:lumOff val="8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Text Section contains:</a:t>
            </a:r>
          </a:p>
          <a:p>
            <a:pPr algn="ctr"/>
            <a:r>
              <a:rPr lang="en-US" sz="1200" dirty="0">
                <a:solidFill>
                  <a:schemeClr val="tx1"/>
                </a:solidFill>
              </a:rPr>
              <a:t>Configuration Information and </a:t>
            </a:r>
          </a:p>
          <a:p>
            <a:pPr algn="ctr"/>
            <a:r>
              <a:rPr lang="en-US" sz="1200" dirty="0">
                <a:solidFill>
                  <a:schemeClr val="tx1"/>
                </a:solidFill>
              </a:rPr>
              <a:t>Test Information</a:t>
            </a:r>
          </a:p>
        </p:txBody>
      </p:sp>
      <p:sp>
        <p:nvSpPr>
          <p:cNvPr id="6" name="Speech Bubble: Rectangle with Corners Rounded 5">
            <a:extLst>
              <a:ext uri="{FF2B5EF4-FFF2-40B4-BE49-F238E27FC236}">
                <a16:creationId xmlns:a16="http://schemas.microsoft.com/office/drawing/2014/main" id="{8B4BB1B7-D1B6-8310-2A73-56EA73FCA75E}"/>
              </a:ext>
            </a:extLst>
          </p:cNvPr>
          <p:cNvSpPr/>
          <p:nvPr/>
        </p:nvSpPr>
        <p:spPr>
          <a:xfrm>
            <a:off x="9121350" y="2861454"/>
            <a:ext cx="2531154" cy="3493626"/>
          </a:xfrm>
          <a:prstGeom prst="wedgeRoundRectCallout">
            <a:avLst>
              <a:gd name="adj1" fmla="val -245014"/>
              <a:gd name="adj2" fmla="val 15210"/>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sz="2000" b="1" u="sng" dirty="0">
                <a:solidFill>
                  <a:schemeClr val="tx1"/>
                </a:solidFill>
              </a:rPr>
              <a:t>Update and Error Logs</a:t>
            </a:r>
          </a:p>
          <a:p>
            <a:pPr algn="ctr"/>
            <a:endParaRPr lang="en-US" dirty="0">
              <a:solidFill>
                <a:schemeClr val="tx1"/>
              </a:solidFill>
            </a:endParaRPr>
          </a:p>
          <a:p>
            <a:pPr algn="ctr"/>
            <a:r>
              <a:rPr lang="en-US" dirty="0">
                <a:solidFill>
                  <a:schemeClr val="tx1"/>
                </a:solidFill>
              </a:rPr>
              <a:t>Three logs can be displayed, Caution, Warning, and Update.</a:t>
            </a:r>
          </a:p>
          <a:p>
            <a:pPr algn="ctr"/>
            <a:endParaRPr lang="en-US" dirty="0">
              <a:solidFill>
                <a:schemeClr val="tx1"/>
              </a:solidFill>
            </a:endParaRPr>
          </a:p>
          <a:p>
            <a:pPr algn="ctr"/>
            <a:r>
              <a:rPr lang="en-US" b="1" u="sng" dirty="0">
                <a:solidFill>
                  <a:schemeClr val="tx1"/>
                </a:solidFill>
              </a:rPr>
              <a:t>If you have an alarm on the Chart Section</a:t>
            </a:r>
            <a:r>
              <a:rPr lang="en-US" u="sng" dirty="0">
                <a:solidFill>
                  <a:schemeClr val="tx1"/>
                </a:solidFill>
              </a:rPr>
              <a:t>, </a:t>
            </a:r>
            <a:r>
              <a:rPr lang="en-US" dirty="0">
                <a:solidFill>
                  <a:schemeClr val="tx1"/>
                </a:solidFill>
              </a:rPr>
              <a:t>look here for amplifying information.</a:t>
            </a:r>
          </a:p>
        </p:txBody>
      </p:sp>
      <p:sp>
        <p:nvSpPr>
          <p:cNvPr id="9" name="Callout: Line 8">
            <a:extLst>
              <a:ext uri="{FF2B5EF4-FFF2-40B4-BE49-F238E27FC236}">
                <a16:creationId xmlns:a16="http://schemas.microsoft.com/office/drawing/2014/main" id="{7DE7D7C6-0DC8-BD72-571D-51128FCF8772}"/>
              </a:ext>
            </a:extLst>
          </p:cNvPr>
          <p:cNvSpPr/>
          <p:nvPr/>
        </p:nvSpPr>
        <p:spPr>
          <a:xfrm>
            <a:off x="6172200" y="2963593"/>
            <a:ext cx="1417320" cy="930813"/>
          </a:xfrm>
          <a:prstGeom prst="borderCallout1">
            <a:avLst>
              <a:gd name="adj1" fmla="val 82604"/>
              <a:gd name="adj2" fmla="val -2527"/>
              <a:gd name="adj3" fmla="val 120359"/>
              <a:gd name="adj4" fmla="val -7575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SMART Drive Status (New)</a:t>
            </a:r>
          </a:p>
        </p:txBody>
      </p:sp>
    </p:spTree>
    <p:extLst>
      <p:ext uri="{BB962C8B-B14F-4D97-AF65-F5344CB8AC3E}">
        <p14:creationId xmlns:p14="http://schemas.microsoft.com/office/powerpoint/2010/main" val="172415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216D8-BCC9-5451-BE7B-2585557CB4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57629F-4872-A697-EEE7-144214E08017}"/>
              </a:ext>
            </a:extLst>
          </p:cNvPr>
          <p:cNvPicPr>
            <a:picLocks noChangeAspect="1"/>
          </p:cNvPicPr>
          <p:nvPr/>
        </p:nvPicPr>
        <p:blipFill>
          <a:blip r:embed="rId2"/>
          <a:stretch>
            <a:fillRect/>
          </a:stretch>
        </p:blipFill>
        <p:spPr>
          <a:xfrm>
            <a:off x="622960" y="883436"/>
            <a:ext cx="9536024" cy="5974564"/>
          </a:xfrm>
          <a:prstGeom prst="rect">
            <a:avLst/>
          </a:prstGeom>
        </p:spPr>
      </p:pic>
      <p:sp>
        <p:nvSpPr>
          <p:cNvPr id="3" name="Title 1">
            <a:extLst>
              <a:ext uri="{FF2B5EF4-FFF2-40B4-BE49-F238E27FC236}">
                <a16:creationId xmlns:a16="http://schemas.microsoft.com/office/drawing/2014/main" id="{C570350F-4408-291D-F434-1C31C5B77BA6}"/>
              </a:ext>
            </a:extLst>
          </p:cNvPr>
          <p:cNvSpPr txBox="1">
            <a:spLocks/>
          </p:cNvSpPr>
          <p:nvPr/>
        </p:nvSpPr>
        <p:spPr>
          <a:xfrm>
            <a:off x="838200" y="365125"/>
            <a:ext cx="10515600" cy="522381"/>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Anatomy of the Multi-Report Email</a:t>
            </a:r>
            <a:endParaRPr lang="en-US" dirty="0"/>
          </a:p>
        </p:txBody>
      </p:sp>
      <p:sp>
        <p:nvSpPr>
          <p:cNvPr id="12" name="Speech Bubble: Rectangle with Corners Rounded 11">
            <a:extLst>
              <a:ext uri="{FF2B5EF4-FFF2-40B4-BE49-F238E27FC236}">
                <a16:creationId xmlns:a16="http://schemas.microsoft.com/office/drawing/2014/main" id="{4895B2DB-4B53-7502-4E20-C63CA9948F40}"/>
              </a:ext>
            </a:extLst>
          </p:cNvPr>
          <p:cNvSpPr/>
          <p:nvPr/>
        </p:nvSpPr>
        <p:spPr>
          <a:xfrm>
            <a:off x="8448391" y="998418"/>
            <a:ext cx="2466109" cy="1203484"/>
          </a:xfrm>
          <a:prstGeom prst="wedgeRoundRectCallout">
            <a:avLst>
              <a:gd name="adj1" fmla="val -204184"/>
              <a:gd name="adj2" fmla="val 22557"/>
              <a:gd name="adj3" fmla="val 16667"/>
            </a:avLst>
          </a:prstGeom>
          <a:solidFill>
            <a:schemeClr val="accent2">
              <a:lumMod val="20000"/>
              <a:lumOff val="8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List of attachments that will be included during a Monday (default) run.</a:t>
            </a:r>
          </a:p>
          <a:p>
            <a:pPr algn="ctr"/>
            <a:endParaRPr lang="en-US" sz="1200" dirty="0">
              <a:solidFill>
                <a:schemeClr val="tx1"/>
              </a:solidFill>
            </a:endParaRPr>
          </a:p>
          <a:p>
            <a:pPr algn="ctr"/>
            <a:r>
              <a:rPr lang="en-US" sz="1200" dirty="0" err="1">
                <a:solidFill>
                  <a:schemeClr val="tx1"/>
                </a:solidFill>
              </a:rPr>
              <a:t>Sendemail</a:t>
            </a:r>
            <a:r>
              <a:rPr lang="en-US" sz="1200" dirty="0">
                <a:solidFill>
                  <a:schemeClr val="tx1"/>
                </a:solidFill>
              </a:rPr>
              <a:t> is used or not used.</a:t>
            </a:r>
          </a:p>
        </p:txBody>
      </p:sp>
      <p:sp>
        <p:nvSpPr>
          <p:cNvPr id="6" name="Speech Bubble: Rectangle with Corners Rounded 5">
            <a:extLst>
              <a:ext uri="{FF2B5EF4-FFF2-40B4-BE49-F238E27FC236}">
                <a16:creationId xmlns:a16="http://schemas.microsoft.com/office/drawing/2014/main" id="{22F2E433-8474-7441-5C4E-F31FC9F876D7}"/>
              </a:ext>
            </a:extLst>
          </p:cNvPr>
          <p:cNvSpPr/>
          <p:nvPr/>
        </p:nvSpPr>
        <p:spPr>
          <a:xfrm>
            <a:off x="8281006" y="2587434"/>
            <a:ext cx="3164234" cy="2734374"/>
          </a:xfrm>
          <a:prstGeom prst="wedgeRoundRectCallout">
            <a:avLst>
              <a:gd name="adj1" fmla="val -89420"/>
              <a:gd name="adj2" fmla="val -21287"/>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sz="1200" dirty="0">
                <a:solidFill>
                  <a:schemeClr val="tx1"/>
                </a:solidFill>
              </a:rPr>
              <a:t>If SMART Testing is enabled:</a:t>
            </a:r>
          </a:p>
          <a:p>
            <a:pPr algn="ctr"/>
            <a:r>
              <a:rPr lang="en-US" sz="1200" dirty="0">
                <a:solidFill>
                  <a:schemeClr val="tx1"/>
                </a:solidFill>
              </a:rPr>
              <a:t>List of drives being Short and Long tested this run.</a:t>
            </a:r>
          </a:p>
          <a:p>
            <a:pPr algn="ctr"/>
            <a:endParaRPr lang="en-US" sz="1200" dirty="0">
              <a:solidFill>
                <a:schemeClr val="tx1"/>
              </a:solidFill>
            </a:endParaRPr>
          </a:p>
          <a:p>
            <a:pPr algn="ctr"/>
            <a:r>
              <a:rPr lang="en-US" sz="1200" dirty="0">
                <a:solidFill>
                  <a:schemeClr val="tx1"/>
                </a:solidFill>
              </a:rPr>
              <a:t>Also report if a SCRUB or Resilver operation is in progress as these operations by default will not allow a SMART Long test to be run.</a:t>
            </a:r>
          </a:p>
          <a:p>
            <a:pPr algn="ctr"/>
            <a:endParaRPr lang="en-US" sz="1200" dirty="0">
              <a:solidFill>
                <a:schemeClr val="tx1"/>
              </a:solidFill>
            </a:endParaRPr>
          </a:p>
          <a:p>
            <a:pPr algn="ctr"/>
            <a:r>
              <a:rPr lang="en-US" sz="1200" dirty="0">
                <a:solidFill>
                  <a:schemeClr val="tx1"/>
                </a:solidFill>
              </a:rPr>
              <a:t>Seagate Drive FARM Check</a:t>
            </a:r>
          </a:p>
          <a:p>
            <a:pPr algn="ctr"/>
            <a:r>
              <a:rPr lang="en-US" sz="1200" dirty="0">
                <a:solidFill>
                  <a:schemeClr val="tx1"/>
                </a:solidFill>
              </a:rPr>
              <a:t>This may be disabled if you have already run the check and it will slightly speed up the script.</a:t>
            </a:r>
            <a:endParaRPr lang="en-US" sz="1100" dirty="0">
              <a:solidFill>
                <a:schemeClr val="tx1"/>
              </a:solidFill>
            </a:endParaRPr>
          </a:p>
        </p:txBody>
      </p:sp>
      <p:sp>
        <p:nvSpPr>
          <p:cNvPr id="7" name="Speech Bubble: Rectangle with Corners Rounded 6">
            <a:extLst>
              <a:ext uri="{FF2B5EF4-FFF2-40B4-BE49-F238E27FC236}">
                <a16:creationId xmlns:a16="http://schemas.microsoft.com/office/drawing/2014/main" id="{CB53D5B2-6C93-60F2-3305-61A7DFD43DDD}"/>
              </a:ext>
            </a:extLst>
          </p:cNvPr>
          <p:cNvSpPr/>
          <p:nvPr/>
        </p:nvSpPr>
        <p:spPr>
          <a:xfrm>
            <a:off x="8290283" y="5488162"/>
            <a:ext cx="3278757" cy="1203484"/>
          </a:xfrm>
          <a:prstGeom prst="wedgeRoundRectCallout">
            <a:avLst>
              <a:gd name="adj1" fmla="val -184046"/>
              <a:gd name="adj2" fmla="val -148397"/>
              <a:gd name="adj3" fmla="val 16667"/>
            </a:avLst>
          </a:prstGeom>
          <a:solidFill>
            <a:schemeClr val="accent2">
              <a:lumMod val="20000"/>
              <a:lumOff val="8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If Warranty is enabled and when the drives have expired, the drives will be listed with the expiration date.</a:t>
            </a:r>
          </a:p>
          <a:p>
            <a:pPr algn="ctr"/>
            <a:endParaRPr lang="en-US" sz="1200" dirty="0">
              <a:solidFill>
                <a:schemeClr val="tx1"/>
              </a:solidFill>
            </a:endParaRPr>
          </a:p>
          <a:p>
            <a:pPr algn="ctr"/>
            <a:r>
              <a:rPr lang="en-US" sz="1200" dirty="0">
                <a:solidFill>
                  <a:schemeClr val="tx1"/>
                </a:solidFill>
              </a:rPr>
              <a:t>The Chart section will display a countdown or count-up (yellow background) as well.</a:t>
            </a:r>
          </a:p>
        </p:txBody>
      </p:sp>
    </p:spTree>
    <p:extLst>
      <p:ext uri="{BB962C8B-B14F-4D97-AF65-F5344CB8AC3E}">
        <p14:creationId xmlns:p14="http://schemas.microsoft.com/office/powerpoint/2010/main" val="2986674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EBA2E0-C5AC-9CAE-F120-53D2737D60B5}"/>
              </a:ext>
            </a:extLst>
          </p:cNvPr>
          <p:cNvPicPr>
            <a:picLocks noChangeAspect="1"/>
          </p:cNvPicPr>
          <p:nvPr/>
        </p:nvPicPr>
        <p:blipFill>
          <a:blip r:embed="rId2"/>
          <a:stretch>
            <a:fillRect/>
          </a:stretch>
        </p:blipFill>
        <p:spPr>
          <a:xfrm>
            <a:off x="0" y="1318964"/>
            <a:ext cx="12192000" cy="3900787"/>
          </a:xfrm>
          <a:prstGeom prst="rect">
            <a:avLst/>
          </a:prstGeom>
        </p:spPr>
      </p:pic>
      <p:sp>
        <p:nvSpPr>
          <p:cNvPr id="2" name="Title 1">
            <a:extLst>
              <a:ext uri="{FF2B5EF4-FFF2-40B4-BE49-F238E27FC236}">
                <a16:creationId xmlns:a16="http://schemas.microsoft.com/office/drawing/2014/main" id="{8A06B921-7DA6-A371-DA49-8532508BBC5E}"/>
              </a:ext>
            </a:extLst>
          </p:cNvPr>
          <p:cNvSpPr>
            <a:spLocks noGrp="1"/>
          </p:cNvSpPr>
          <p:nvPr>
            <p:ph type="title"/>
          </p:nvPr>
        </p:nvSpPr>
        <p:spPr>
          <a:xfrm>
            <a:off x="838200" y="365125"/>
            <a:ext cx="10515600" cy="522381"/>
          </a:xfrm>
        </p:spPr>
        <p:txBody>
          <a:bodyPr>
            <a:normAutofit fontScale="90000"/>
          </a:bodyPr>
          <a:lstStyle/>
          <a:p>
            <a:pPr algn="ctr"/>
            <a:r>
              <a:rPr lang="en-US" dirty="0"/>
              <a:t>Anatomy of the Multi-Report Email</a:t>
            </a:r>
          </a:p>
        </p:txBody>
      </p:sp>
      <p:sp>
        <p:nvSpPr>
          <p:cNvPr id="6" name="Speech Bubble: Rectangle with Corners Rounded 5">
            <a:extLst>
              <a:ext uri="{FF2B5EF4-FFF2-40B4-BE49-F238E27FC236}">
                <a16:creationId xmlns:a16="http://schemas.microsoft.com/office/drawing/2014/main" id="{70A1F6C5-E70A-CB45-6928-1AE3D2E46A80}"/>
              </a:ext>
            </a:extLst>
          </p:cNvPr>
          <p:cNvSpPr/>
          <p:nvPr/>
        </p:nvSpPr>
        <p:spPr>
          <a:xfrm>
            <a:off x="7872984" y="3511297"/>
            <a:ext cx="3913631" cy="2596895"/>
          </a:xfrm>
          <a:prstGeom prst="wedgeRoundRectCallout">
            <a:avLst>
              <a:gd name="adj1" fmla="val -95741"/>
              <a:gd name="adj2" fmla="val -541"/>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All drives for pool called “farm” in this example</a:t>
            </a:r>
          </a:p>
          <a:p>
            <a:pPr algn="ctr"/>
            <a:r>
              <a:rPr lang="en-US" sz="1200" dirty="0">
                <a:solidFill>
                  <a:schemeClr val="tx1"/>
                </a:solidFill>
              </a:rPr>
              <a:t>identified by three things:</a:t>
            </a:r>
          </a:p>
          <a:p>
            <a:pPr algn="ctr"/>
            <a:r>
              <a:rPr lang="en-US" sz="1200" dirty="0">
                <a:solidFill>
                  <a:schemeClr val="tx1"/>
                </a:solidFill>
              </a:rPr>
              <a:t> </a:t>
            </a:r>
            <a:r>
              <a:rPr lang="en-US" sz="1200" dirty="0" err="1">
                <a:solidFill>
                  <a:schemeClr val="tx1"/>
                </a:solidFill>
              </a:rPr>
              <a:t>gptid</a:t>
            </a:r>
            <a:r>
              <a:rPr lang="en-US" sz="1200" dirty="0">
                <a:solidFill>
                  <a:schemeClr val="tx1"/>
                </a:solidFill>
              </a:rPr>
              <a:t> -&gt; Drive ID -&gt; Drive Serial Number</a:t>
            </a:r>
          </a:p>
          <a:p>
            <a:pPr algn="ctr"/>
            <a:endParaRPr lang="en-US" sz="1200" dirty="0">
              <a:solidFill>
                <a:schemeClr val="tx1"/>
              </a:solidFill>
            </a:endParaRPr>
          </a:p>
          <a:p>
            <a:pPr algn="ctr"/>
            <a:r>
              <a:rPr lang="en-US" sz="1200" dirty="0">
                <a:solidFill>
                  <a:schemeClr val="tx1"/>
                </a:solidFill>
              </a:rPr>
              <a:t>This makes it significantly easier to identify which drive actually failed by serial number.</a:t>
            </a:r>
          </a:p>
          <a:p>
            <a:pPr algn="ctr"/>
            <a:endParaRPr lang="en-US" sz="1200" dirty="0">
              <a:solidFill>
                <a:schemeClr val="tx1"/>
              </a:solidFill>
            </a:endParaRPr>
          </a:p>
          <a:p>
            <a:pPr algn="ctr"/>
            <a:r>
              <a:rPr lang="en-US" sz="1200" dirty="0">
                <a:solidFill>
                  <a:schemeClr val="tx1"/>
                </a:solidFill>
              </a:rPr>
              <a:t>PROBLEM does not mean the drive has fail.  It simply means that a problem is related to this physical drive.  It could be a ZFS problem (as in this example) or a real hardware failure.  Just do not jump to conclusions without  looking at all the data.</a:t>
            </a:r>
          </a:p>
        </p:txBody>
      </p:sp>
      <p:sp>
        <p:nvSpPr>
          <p:cNvPr id="13" name="Speech Bubble: Rectangle with Corners Rounded 12">
            <a:extLst>
              <a:ext uri="{FF2B5EF4-FFF2-40B4-BE49-F238E27FC236}">
                <a16:creationId xmlns:a16="http://schemas.microsoft.com/office/drawing/2014/main" id="{22493250-D6F9-9DDF-46E2-5A72E17D1649}"/>
              </a:ext>
            </a:extLst>
          </p:cNvPr>
          <p:cNvSpPr/>
          <p:nvPr/>
        </p:nvSpPr>
        <p:spPr>
          <a:xfrm>
            <a:off x="8051799" y="1276175"/>
            <a:ext cx="3556000" cy="2019393"/>
          </a:xfrm>
          <a:prstGeom prst="wedgeRoundRectCallout">
            <a:avLst>
              <a:gd name="adj1" fmla="val -112501"/>
              <a:gd name="adj2" fmla="val 38351"/>
              <a:gd name="adj3" fmla="val 16667"/>
            </a:avLst>
          </a:prstGeom>
          <a:solidFill>
            <a:schemeClr val="accent2">
              <a:lumMod val="20000"/>
              <a:lumOff val="8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err="1">
                <a:solidFill>
                  <a:schemeClr val="tx1"/>
                </a:solidFill>
              </a:rPr>
              <a:t>Zpool</a:t>
            </a:r>
            <a:r>
              <a:rPr lang="en-US" sz="1200" i="1" dirty="0">
                <a:solidFill>
                  <a:schemeClr val="tx1"/>
                </a:solidFill>
              </a:rPr>
              <a:t> Status</a:t>
            </a:r>
          </a:p>
          <a:p>
            <a:pPr algn="ctr"/>
            <a:endParaRPr lang="en-US" sz="1200" i="1" dirty="0">
              <a:solidFill>
                <a:schemeClr val="tx1"/>
              </a:solidFill>
            </a:endParaRPr>
          </a:p>
          <a:p>
            <a:pPr algn="ctr"/>
            <a:r>
              <a:rPr lang="en-US" sz="1200" i="1" dirty="0">
                <a:solidFill>
                  <a:schemeClr val="tx1"/>
                </a:solidFill>
              </a:rPr>
              <a:t>Besides the standard </a:t>
            </a:r>
            <a:r>
              <a:rPr lang="en-US" sz="1200" i="1" dirty="0" err="1">
                <a:solidFill>
                  <a:schemeClr val="tx1"/>
                </a:solidFill>
              </a:rPr>
              <a:t>zpool</a:t>
            </a:r>
            <a:r>
              <a:rPr lang="en-US" sz="1200" i="1" dirty="0">
                <a:solidFill>
                  <a:schemeClr val="tx1"/>
                </a:solidFill>
              </a:rPr>
              <a:t> status data, this example tells you the drive is “Virtual”, the </a:t>
            </a:r>
            <a:r>
              <a:rPr lang="en-US" sz="1200" i="1" dirty="0" err="1">
                <a:solidFill>
                  <a:schemeClr val="tx1"/>
                </a:solidFill>
              </a:rPr>
              <a:t>gptid</a:t>
            </a:r>
            <a:r>
              <a:rPr lang="en-US" sz="1200" i="1" dirty="0">
                <a:solidFill>
                  <a:schemeClr val="tx1"/>
                </a:solidFill>
              </a:rPr>
              <a:t> </a:t>
            </a:r>
            <a:r>
              <a:rPr lang="en-US" sz="1200" dirty="0">
                <a:solidFill>
                  <a:schemeClr val="tx1"/>
                </a:solidFill>
              </a:rPr>
              <a:t>number, the Drive ID, and Drive Serial Number.</a:t>
            </a:r>
          </a:p>
          <a:p>
            <a:pPr algn="ctr"/>
            <a:endParaRPr lang="en-US" sz="1200" dirty="0">
              <a:solidFill>
                <a:schemeClr val="tx1"/>
              </a:solidFill>
            </a:endParaRPr>
          </a:p>
          <a:p>
            <a:pPr algn="ctr"/>
            <a:r>
              <a:rPr lang="en-US" sz="1200" dirty="0">
                <a:solidFill>
                  <a:schemeClr val="tx1"/>
                </a:solidFill>
              </a:rPr>
              <a:t>Use this cross reference data to locate the drive serial number and use the drive serial number when troubleshooting a drive problem.</a:t>
            </a:r>
          </a:p>
        </p:txBody>
      </p:sp>
    </p:spTree>
    <p:extLst>
      <p:ext uri="{BB962C8B-B14F-4D97-AF65-F5344CB8AC3E}">
        <p14:creationId xmlns:p14="http://schemas.microsoft.com/office/powerpoint/2010/main" val="65106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C1BCA-9AFE-18B1-B3FF-F22656FBEA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A67C0B-DDD8-60AD-867C-84C723B751AA}"/>
              </a:ext>
            </a:extLst>
          </p:cNvPr>
          <p:cNvPicPr>
            <a:picLocks noChangeAspect="1"/>
          </p:cNvPicPr>
          <p:nvPr/>
        </p:nvPicPr>
        <p:blipFill>
          <a:blip r:embed="rId2"/>
          <a:stretch>
            <a:fillRect/>
          </a:stretch>
        </p:blipFill>
        <p:spPr>
          <a:xfrm>
            <a:off x="605234" y="1297539"/>
            <a:ext cx="7964011" cy="4829849"/>
          </a:xfrm>
          <a:prstGeom prst="rect">
            <a:avLst/>
          </a:prstGeom>
        </p:spPr>
      </p:pic>
      <p:sp>
        <p:nvSpPr>
          <p:cNvPr id="2" name="Title 1">
            <a:extLst>
              <a:ext uri="{FF2B5EF4-FFF2-40B4-BE49-F238E27FC236}">
                <a16:creationId xmlns:a16="http://schemas.microsoft.com/office/drawing/2014/main" id="{72BE9876-F2FF-C73A-5347-29494BA40DD0}"/>
              </a:ext>
            </a:extLst>
          </p:cNvPr>
          <p:cNvSpPr>
            <a:spLocks noGrp="1"/>
          </p:cNvSpPr>
          <p:nvPr>
            <p:ph type="title"/>
          </p:nvPr>
        </p:nvSpPr>
        <p:spPr>
          <a:xfrm>
            <a:off x="362712" y="372500"/>
            <a:ext cx="10515600" cy="522381"/>
          </a:xfrm>
        </p:spPr>
        <p:txBody>
          <a:bodyPr>
            <a:noAutofit/>
          </a:bodyPr>
          <a:lstStyle/>
          <a:p>
            <a:pPr algn="ctr"/>
            <a:r>
              <a:rPr lang="en-US" sz="3200" dirty="0"/>
              <a:t>Anatomy of the Multi-Report Email</a:t>
            </a:r>
            <a:br>
              <a:rPr lang="en-US" sz="3200" dirty="0"/>
            </a:br>
            <a:r>
              <a:rPr lang="en-US" sz="3200" dirty="0"/>
              <a:t>New for Version 3.20</a:t>
            </a:r>
          </a:p>
        </p:txBody>
      </p:sp>
      <p:sp>
        <p:nvSpPr>
          <p:cNvPr id="7" name="Callout: Line 6">
            <a:extLst>
              <a:ext uri="{FF2B5EF4-FFF2-40B4-BE49-F238E27FC236}">
                <a16:creationId xmlns:a16="http://schemas.microsoft.com/office/drawing/2014/main" id="{78E553E6-BF04-1DDA-FF67-132CD37ABB44}"/>
              </a:ext>
            </a:extLst>
          </p:cNvPr>
          <p:cNvSpPr/>
          <p:nvPr/>
        </p:nvSpPr>
        <p:spPr>
          <a:xfrm>
            <a:off x="8915400" y="2743199"/>
            <a:ext cx="2761488" cy="1636777"/>
          </a:xfrm>
          <a:prstGeom prst="borderCallout1">
            <a:avLst>
              <a:gd name="adj1" fmla="val 72350"/>
              <a:gd name="adj2" fmla="val 169"/>
              <a:gd name="adj3" fmla="val 160487"/>
              <a:gd name="adj4" fmla="val -57625"/>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Drive Location Data</a:t>
            </a:r>
          </a:p>
          <a:p>
            <a:pPr algn="ctr"/>
            <a:r>
              <a:rPr lang="en-US" dirty="0"/>
              <a:t>(Great for locating your drive’s physical location)</a:t>
            </a:r>
          </a:p>
        </p:txBody>
      </p:sp>
    </p:spTree>
    <p:extLst>
      <p:ext uri="{BB962C8B-B14F-4D97-AF65-F5344CB8AC3E}">
        <p14:creationId xmlns:p14="http://schemas.microsoft.com/office/powerpoint/2010/main" val="260594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B921-7DA6-A371-DA49-8532508BBC5E}"/>
              </a:ext>
            </a:extLst>
          </p:cNvPr>
          <p:cNvSpPr>
            <a:spLocks noGrp="1"/>
          </p:cNvSpPr>
          <p:nvPr>
            <p:ph type="title"/>
          </p:nvPr>
        </p:nvSpPr>
        <p:spPr>
          <a:xfrm>
            <a:off x="838200" y="365125"/>
            <a:ext cx="10515600" cy="522381"/>
          </a:xfrm>
        </p:spPr>
        <p:txBody>
          <a:bodyPr>
            <a:normAutofit fontScale="90000"/>
          </a:bodyPr>
          <a:lstStyle/>
          <a:p>
            <a:pPr algn="ctr"/>
            <a:r>
              <a:rPr lang="en-US" dirty="0"/>
              <a:t>Anatomy of the Multi-Report Email</a:t>
            </a:r>
          </a:p>
        </p:txBody>
      </p:sp>
      <p:pic>
        <p:nvPicPr>
          <p:cNvPr id="7" name="Picture 6">
            <a:extLst>
              <a:ext uri="{FF2B5EF4-FFF2-40B4-BE49-F238E27FC236}">
                <a16:creationId xmlns:a16="http://schemas.microsoft.com/office/drawing/2014/main" id="{3A3C2CA1-AC23-7414-5CB5-4DEDEA406718}"/>
              </a:ext>
            </a:extLst>
          </p:cNvPr>
          <p:cNvPicPr>
            <a:picLocks noChangeAspect="1"/>
          </p:cNvPicPr>
          <p:nvPr/>
        </p:nvPicPr>
        <p:blipFill>
          <a:blip r:embed="rId2"/>
          <a:stretch>
            <a:fillRect/>
          </a:stretch>
        </p:blipFill>
        <p:spPr>
          <a:xfrm>
            <a:off x="0" y="1113561"/>
            <a:ext cx="15022234" cy="5379314"/>
          </a:xfrm>
          <a:prstGeom prst="rect">
            <a:avLst/>
          </a:prstGeom>
        </p:spPr>
      </p:pic>
      <p:sp>
        <p:nvSpPr>
          <p:cNvPr id="9" name="Thought Bubble: Cloud 8">
            <a:extLst>
              <a:ext uri="{FF2B5EF4-FFF2-40B4-BE49-F238E27FC236}">
                <a16:creationId xmlns:a16="http://schemas.microsoft.com/office/drawing/2014/main" id="{C1F4E932-D513-5963-B7A4-5DE9B4E9DC81}"/>
              </a:ext>
            </a:extLst>
          </p:cNvPr>
          <p:cNvSpPr/>
          <p:nvPr/>
        </p:nvSpPr>
        <p:spPr>
          <a:xfrm>
            <a:off x="8563064" y="2238866"/>
            <a:ext cx="3446685" cy="2654881"/>
          </a:xfrm>
          <a:prstGeom prst="cloudCallout">
            <a:avLst>
              <a:gd name="adj1" fmla="val -94650"/>
              <a:gd name="adj2" fmla="val 2298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The OUTPUT of “</a:t>
            </a:r>
            <a:r>
              <a:rPr lang="en-US" sz="1200" dirty="0" err="1"/>
              <a:t>smartctl</a:t>
            </a:r>
            <a:r>
              <a:rPr lang="en-US" sz="1200" dirty="0"/>
              <a:t> –a”</a:t>
            </a:r>
          </a:p>
          <a:p>
            <a:pPr algn="ctr"/>
            <a:endParaRPr lang="en-US" sz="1200" dirty="0"/>
          </a:p>
          <a:p>
            <a:pPr algn="ctr"/>
            <a:r>
              <a:rPr lang="en-US" sz="1200" dirty="0"/>
              <a:t>Why did I include this in the report you ask?</a:t>
            </a:r>
          </a:p>
          <a:p>
            <a:pPr algn="ctr"/>
            <a:r>
              <a:rPr lang="en-US" sz="1200" dirty="0"/>
              <a:t>Because it is the information at the time of the report.  Data can and will change so we grab it here should there be a problem to examine.</a:t>
            </a:r>
          </a:p>
        </p:txBody>
      </p:sp>
      <p:sp>
        <p:nvSpPr>
          <p:cNvPr id="10" name="Speech Bubble: Rectangle with Corners Rounded 9">
            <a:extLst>
              <a:ext uri="{FF2B5EF4-FFF2-40B4-BE49-F238E27FC236}">
                <a16:creationId xmlns:a16="http://schemas.microsoft.com/office/drawing/2014/main" id="{016A1C51-07C9-B486-3B17-FDDC4040FAAC}"/>
              </a:ext>
            </a:extLst>
          </p:cNvPr>
          <p:cNvSpPr/>
          <p:nvPr/>
        </p:nvSpPr>
        <p:spPr>
          <a:xfrm>
            <a:off x="5616375" y="5906079"/>
            <a:ext cx="3251199" cy="720435"/>
          </a:xfrm>
          <a:prstGeom prst="wedgeRoundRectCallout">
            <a:avLst>
              <a:gd name="adj1" fmla="val -97568"/>
              <a:gd name="adj2" fmla="val 11359"/>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TLDR Can also be set by the script, the default is 70 (7.0 seconds) when enabled.  It is Disabled in this example.</a:t>
            </a:r>
          </a:p>
        </p:txBody>
      </p:sp>
      <p:sp>
        <p:nvSpPr>
          <p:cNvPr id="11" name="Speech Bubble: Rectangle with Corners Rounded 10">
            <a:extLst>
              <a:ext uri="{FF2B5EF4-FFF2-40B4-BE49-F238E27FC236}">
                <a16:creationId xmlns:a16="http://schemas.microsoft.com/office/drawing/2014/main" id="{C9C68FB6-ABCB-CF45-4DA5-352BF46BC7DF}"/>
              </a:ext>
            </a:extLst>
          </p:cNvPr>
          <p:cNvSpPr/>
          <p:nvPr/>
        </p:nvSpPr>
        <p:spPr>
          <a:xfrm>
            <a:off x="7241975" y="4959641"/>
            <a:ext cx="2858655" cy="812799"/>
          </a:xfrm>
          <a:prstGeom prst="wedgeRoundRectCallout">
            <a:avLst>
              <a:gd name="adj1" fmla="val -158123"/>
              <a:gd name="adj2" fmla="val 42650"/>
              <a:gd name="adj3" fmla="val 16667"/>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Last SMART Short and Long Tests</a:t>
            </a:r>
          </a:p>
          <a:p>
            <a:pPr algn="ctr"/>
            <a:r>
              <a:rPr lang="en-US" sz="1200" dirty="0">
                <a:solidFill>
                  <a:schemeClr val="tx1"/>
                </a:solidFill>
              </a:rPr>
              <a:t>with the results.</a:t>
            </a:r>
          </a:p>
        </p:txBody>
      </p:sp>
      <p:sp>
        <p:nvSpPr>
          <p:cNvPr id="12" name="Speech Bubble: Oval 11">
            <a:extLst>
              <a:ext uri="{FF2B5EF4-FFF2-40B4-BE49-F238E27FC236}">
                <a16:creationId xmlns:a16="http://schemas.microsoft.com/office/drawing/2014/main" id="{4509CE54-E33D-6049-20B5-F6102C7F608A}"/>
              </a:ext>
            </a:extLst>
          </p:cNvPr>
          <p:cNvSpPr/>
          <p:nvPr/>
        </p:nvSpPr>
        <p:spPr>
          <a:xfrm>
            <a:off x="7241975" y="979922"/>
            <a:ext cx="2858655" cy="1306078"/>
          </a:xfrm>
          <a:prstGeom prst="wedgeEllipseCallout">
            <a:avLst>
              <a:gd name="adj1" fmla="val -68652"/>
              <a:gd name="adj2" fmla="val -26858"/>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Header to identify the report is for Drive ID ‘</a:t>
            </a:r>
            <a:r>
              <a:rPr lang="en-US" sz="1200" dirty="0" err="1"/>
              <a:t>sdd</a:t>
            </a:r>
            <a:r>
              <a:rPr lang="en-US" sz="1200" dirty="0"/>
              <a:t>’ and lists the Model Number and Serial Number</a:t>
            </a:r>
          </a:p>
        </p:txBody>
      </p:sp>
      <p:sp>
        <p:nvSpPr>
          <p:cNvPr id="3" name="Callout: Line 2">
            <a:extLst>
              <a:ext uri="{FF2B5EF4-FFF2-40B4-BE49-F238E27FC236}">
                <a16:creationId xmlns:a16="http://schemas.microsoft.com/office/drawing/2014/main" id="{DEA724B3-5B2B-7905-6B0D-10CB7EBE6710}"/>
              </a:ext>
            </a:extLst>
          </p:cNvPr>
          <p:cNvSpPr/>
          <p:nvPr/>
        </p:nvSpPr>
        <p:spPr>
          <a:xfrm>
            <a:off x="6855474" y="2378416"/>
            <a:ext cx="1625601" cy="1035242"/>
          </a:xfrm>
          <a:prstGeom prst="borderCallout1">
            <a:avLst>
              <a:gd name="adj1" fmla="val 18750"/>
              <a:gd name="adj2" fmla="val -8333"/>
              <a:gd name="adj3" fmla="val -48037"/>
              <a:gd name="adj4" fmla="val -53604"/>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Seagate ID1 and ID7 will read the true error rates, no more number conversion.</a:t>
            </a:r>
          </a:p>
          <a:p>
            <a:pPr algn="ctr"/>
            <a:r>
              <a:rPr lang="en-US" sz="1200" dirty="0"/>
              <a:t>(New Ver 3.20)</a:t>
            </a:r>
          </a:p>
        </p:txBody>
      </p:sp>
    </p:spTree>
    <p:extLst>
      <p:ext uri="{BB962C8B-B14F-4D97-AF65-F5344CB8AC3E}">
        <p14:creationId xmlns:p14="http://schemas.microsoft.com/office/powerpoint/2010/main" val="1948821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13D8E-C65E-4E27-B952-686971D1626A}"/>
              </a:ext>
            </a:extLst>
          </p:cNvPr>
          <p:cNvSpPr>
            <a:spLocks noGrp="1"/>
          </p:cNvSpPr>
          <p:nvPr>
            <p:ph type="title"/>
          </p:nvPr>
        </p:nvSpPr>
        <p:spPr>
          <a:xfrm>
            <a:off x="838200" y="23389"/>
            <a:ext cx="10515600" cy="1325563"/>
          </a:xfrm>
        </p:spPr>
        <p:txBody>
          <a:bodyPr/>
          <a:lstStyle/>
          <a:p>
            <a:r>
              <a:rPr lang="en-US" dirty="0"/>
              <a:t>Closing Notes</a:t>
            </a:r>
          </a:p>
        </p:txBody>
      </p:sp>
      <p:sp>
        <p:nvSpPr>
          <p:cNvPr id="3" name="TextBox 2">
            <a:extLst>
              <a:ext uri="{FF2B5EF4-FFF2-40B4-BE49-F238E27FC236}">
                <a16:creationId xmlns:a16="http://schemas.microsoft.com/office/drawing/2014/main" id="{FAF497D7-A9AE-5B14-08E3-6986A598DC90}"/>
              </a:ext>
            </a:extLst>
          </p:cNvPr>
          <p:cNvSpPr txBox="1"/>
          <p:nvPr/>
        </p:nvSpPr>
        <p:spPr>
          <a:xfrm>
            <a:off x="350984" y="1330043"/>
            <a:ext cx="11490037" cy="5355312"/>
          </a:xfrm>
          <a:prstGeom prst="rect">
            <a:avLst/>
          </a:prstGeom>
          <a:noFill/>
        </p:spPr>
        <p:txBody>
          <a:bodyPr wrap="square" rtlCol="0">
            <a:spAutoFit/>
          </a:bodyPr>
          <a:lstStyle/>
          <a:p>
            <a:r>
              <a:rPr lang="en-US" dirty="0"/>
              <a:t>Always backup your important data</a:t>
            </a:r>
          </a:p>
          <a:p>
            <a:r>
              <a:rPr lang="en-US" dirty="0"/>
              <a:t>Always use an Uninterruptable Power Supply (UPS)</a:t>
            </a:r>
          </a:p>
          <a:p>
            <a:r>
              <a:rPr lang="en-US" dirty="0"/>
              <a:t>Read the User Guide</a:t>
            </a:r>
          </a:p>
          <a:p>
            <a:endParaRPr lang="en-US" dirty="0"/>
          </a:p>
          <a:p>
            <a:r>
              <a:rPr lang="en-US" dirty="0"/>
              <a:t>If something is not running correctly, </a:t>
            </a:r>
            <a:r>
              <a:rPr lang="en-US" b="1" dirty="0"/>
              <a:t>please ensure your CRON Job setup is like the example in the Quick Setup Information.</a:t>
            </a:r>
            <a:r>
              <a:rPr lang="en-US" dirty="0"/>
              <a:t>   Having the wrong command can absolutely cause problems. If you are smarter than me, share your wisdom, I will accept it openly.  Having the “Hide Standard Output” unchecked provides additional data when the script is run.  If you filter your emails and place these into a separate folder, it will keep your email looking clean and consolidated.</a:t>
            </a:r>
          </a:p>
          <a:p>
            <a:endParaRPr lang="en-US" dirty="0"/>
          </a:p>
          <a:p>
            <a:r>
              <a:rPr lang="en-US" dirty="0"/>
              <a:t>This Quick Start Guide is </a:t>
            </a:r>
            <a:r>
              <a:rPr lang="en-US" u="sng" dirty="0"/>
              <a:t>not</a:t>
            </a:r>
            <a:r>
              <a:rPr lang="en-US" dirty="0"/>
              <a:t> an “all inclusive” resource.  I will not cover every possible problem a drive could indicate, that is not the purpose of the guide.  If you have something happen and it is not covered here, try to use Google to find out more, or ask someone.  It can be much faster for you if you Google it.</a:t>
            </a:r>
          </a:p>
          <a:p>
            <a:endParaRPr lang="en-US" dirty="0"/>
          </a:p>
          <a:p>
            <a:r>
              <a:rPr lang="en-US" dirty="0"/>
              <a:t>If you find something wrong with the script or these instructions, please reach out to </a:t>
            </a:r>
            <a:r>
              <a:rPr lang="en-US" dirty="0">
                <a:hlinkClick r:id="rId2"/>
              </a:rPr>
              <a:t>joeschmuck2023@hotmail.com</a:t>
            </a:r>
            <a:r>
              <a:rPr lang="en-US" dirty="0"/>
              <a:t> with the issue, or run the script using the ‘-dump email’ switch to send me data to analyze and include a little message as well.  Believe it or not, I appreciate the feedback, good or not so good.</a:t>
            </a:r>
          </a:p>
          <a:p>
            <a:endParaRPr lang="en-US" dirty="0"/>
          </a:p>
          <a:p>
            <a:r>
              <a:rPr lang="en-US" dirty="0"/>
              <a:t>And if you have a recommendation on what the default values should be within the multi_report_config.txt file, please reach out to me.  If the change makes sense, I will implement it.</a:t>
            </a:r>
          </a:p>
        </p:txBody>
      </p:sp>
      <p:pic>
        <p:nvPicPr>
          <p:cNvPr id="5" name="Picture 4" descr="A watercolor of a computer hard drive&#10;&#10;AI-generated content may be incorrect.">
            <a:extLst>
              <a:ext uri="{FF2B5EF4-FFF2-40B4-BE49-F238E27FC236}">
                <a16:creationId xmlns:a16="http://schemas.microsoft.com/office/drawing/2014/main" id="{87F6EE41-2935-98A6-1ECF-E26E2993025E}"/>
              </a:ext>
            </a:extLst>
          </p:cNvPr>
          <p:cNvPicPr>
            <a:picLocks noChangeAspect="1"/>
          </p:cNvPicPr>
          <p:nvPr/>
        </p:nvPicPr>
        <p:blipFill>
          <a:blip r:embed="rId3"/>
          <a:stretch>
            <a:fillRect/>
          </a:stretch>
        </p:blipFill>
        <p:spPr>
          <a:xfrm>
            <a:off x="9689573" y="265690"/>
            <a:ext cx="1907837" cy="1904856"/>
          </a:xfrm>
          <a:prstGeom prst="rect">
            <a:avLst/>
          </a:prstGeom>
        </p:spPr>
      </p:pic>
    </p:spTree>
    <p:extLst>
      <p:ext uri="{BB962C8B-B14F-4D97-AF65-F5344CB8AC3E}">
        <p14:creationId xmlns:p14="http://schemas.microsoft.com/office/powerpoint/2010/main" val="3590422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593</TotalTime>
  <Words>1807</Words>
  <PresentationFormat>Widescreen</PresentationFormat>
  <Paragraphs>148</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Office Theme</vt:lpstr>
      <vt:lpstr>Multi-Report</vt:lpstr>
      <vt:lpstr>What is Multi-Report?</vt:lpstr>
      <vt:lpstr>Quick Setup Information</vt:lpstr>
      <vt:lpstr>Anatomy of the Multi-Report Email</vt:lpstr>
      <vt:lpstr>Anatomy of the Multi-Report Email</vt:lpstr>
      <vt:lpstr>Anatomy of the Multi-Report Email</vt:lpstr>
      <vt:lpstr>Anatomy of the Multi-Report Email (Version 3.20 Changes)</vt:lpstr>
      <vt:lpstr>PowerPoint Presentation</vt:lpstr>
      <vt:lpstr>PowerPoint Presentation</vt:lpstr>
      <vt:lpstr>Anatomy of the Multi-Report Email</vt:lpstr>
      <vt:lpstr>Anatomy of the Multi-Report Email New for Version 3.20</vt:lpstr>
      <vt:lpstr>Anatomy of the Multi-Report Email</vt:lpstr>
      <vt:lpstr>Closing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2024-06-01T23:21:50Z</dcterms:created>
  <dcterms:modified xsi:type="dcterms:W3CDTF">2025-09-09T08:35:40Z</dcterms:modified>
</cp:coreProperties>
</file>